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3612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63C9"/>
    <a:srgbClr val="7C54C4"/>
    <a:srgbClr val="1DABCD"/>
    <a:srgbClr val="1CA6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 showGuides="1">
      <p:cViewPr varScale="1">
        <p:scale>
          <a:sx n="121" d="100"/>
          <a:sy n="121" d="100"/>
        </p:scale>
        <p:origin x="408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29602-83EB-F040-B553-A3282BCFD06B}" type="datetimeFigureOut">
              <a:rPr lang="en-CH" smtClean="0"/>
              <a:t>02/08/2023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5DC0AC-A9BA-5E40-AF94-D1397A96F61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09104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Aryl halide and a coupling partner</a:t>
            </a:r>
          </a:p>
          <a:p>
            <a:r>
              <a:rPr lang="en-US" dirty="0"/>
              <a:t>The halide is always an aromatic group this provides the carbon in C-C, C-N, C-O, C-S coupling</a:t>
            </a:r>
          </a:p>
          <a:p>
            <a:r>
              <a:rPr lang="en-US" dirty="0"/>
              <a:t>X is the leaving group - halide</a:t>
            </a:r>
          </a:p>
          <a:p>
            <a:endParaRPr lang="en-US" dirty="0"/>
          </a:p>
          <a:p>
            <a:r>
              <a:rPr lang="en-US" dirty="0"/>
              <a:t>Adsorbed</a:t>
            </a:r>
            <a:r>
              <a:rPr lang="en-US" baseline="0" dirty="0"/>
              <a:t> methoxy and phenyl groups</a:t>
            </a:r>
          </a:p>
          <a:p>
            <a:endParaRPr lang="en-US" baseline="0" dirty="0"/>
          </a:p>
          <a:p>
            <a:r>
              <a:rPr lang="en-US" baseline="0" dirty="0"/>
              <a:t>Reaction scope:</a:t>
            </a:r>
          </a:p>
          <a:p>
            <a:pPr marL="228600" indent="-228600">
              <a:buAutoNum type="arabicParenR"/>
            </a:pPr>
            <a:r>
              <a:rPr lang="en-US" baseline="0" dirty="0"/>
              <a:t>C-O coupling. 24 standard reactions with different aryl bromides/iodides plus 7 syntheses of biorelevant/pharmaceutical compounds. 1 reaction translated to CF.</a:t>
            </a:r>
          </a:p>
          <a:p>
            <a:pPr marL="228600" indent="-228600">
              <a:buAutoNum type="arabicParenR"/>
            </a:pPr>
            <a:r>
              <a:rPr lang="en-US" baseline="0" dirty="0"/>
              <a:t>C-N coupling. 28 standard reactions + 1 synthesis of B/P compounds</a:t>
            </a:r>
          </a:p>
          <a:p>
            <a:pPr marL="228600" indent="-228600">
              <a:buAutoNum type="arabicParenR"/>
            </a:pPr>
            <a:r>
              <a:rPr lang="en-US" baseline="0" dirty="0"/>
              <a:t>C-C coupling: 1 standard + 1 synthesis of B/P compounds</a:t>
            </a:r>
          </a:p>
          <a:p>
            <a:pPr marL="228600" indent="-228600">
              <a:buAutoNum type="arabicParenR"/>
            </a:pPr>
            <a:r>
              <a:rPr lang="en-US" baseline="0" dirty="0"/>
              <a:t>C-S coupling. 2 standard + 1 synthesis B/P compounds</a:t>
            </a:r>
          </a:p>
          <a:p>
            <a:pPr marL="228600" indent="-228600">
              <a:buAutoNum type="arabicParenR"/>
            </a:pPr>
            <a:r>
              <a:rPr lang="en-US" baseline="0" dirty="0" err="1"/>
              <a:t>Azide-alkzne</a:t>
            </a:r>
            <a:r>
              <a:rPr lang="en-US" baseline="0" dirty="0"/>
              <a:t> cycloadditions. 7 standard reactions + 1 synthesis B/P compounds. 1 reaction translated to CF. </a:t>
            </a:r>
          </a:p>
          <a:p>
            <a:pPr marL="228600" indent="-228600">
              <a:buAutoNum type="arabicParenR"/>
            </a:pPr>
            <a:endParaRPr lang="en-US" baseline="0" dirty="0"/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Tested under ligand-free conditions (only solvent and base required. Reaction optimization conducted for C-O coupling. </a:t>
            </a:r>
          </a:p>
          <a:p>
            <a:r>
              <a:rPr lang="en-US" dirty="0"/>
              <a:t>High selectivity and yield (60-90%) outperforming benchmark copper iodide with same molar equivalent of Cu.</a:t>
            </a:r>
          </a:p>
          <a:p>
            <a:r>
              <a:rPr lang="en-US" dirty="0"/>
              <a:t>Works with electron deficient or electron rich aryl substrates.</a:t>
            </a:r>
          </a:p>
          <a:p>
            <a:r>
              <a:rPr lang="en-US" dirty="0"/>
              <a:t>The biomolecules emphasized were: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L-menthol, stigmasterol, DL-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isoborneol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1,2,3,4-diacetone galactose and the derivative from testosterone prednisolone and the large-scale synthesis of drug- </a:t>
            </a:r>
            <a:endParaRPr lang="en-GB" dirty="0">
              <a:effectLst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 p-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arylthio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aniline</a:t>
            </a:r>
            <a:endParaRPr lang="en-GB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6EBF4-3901-4078-872E-BEC36EC674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1819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5745-3A2F-4BAC-A30E-9A1506BC403C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806A-5134-4537-88F1-A26AD2F1A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5745-3A2F-4BAC-A30E-9A1506BC403C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806A-5134-4537-88F1-A26AD2F1A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907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5745-3A2F-4BAC-A30E-9A1506BC403C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806A-5134-4537-88F1-A26AD2F1A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33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5745-3A2F-4BAC-A30E-9A1506BC403C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806A-5134-4537-88F1-A26AD2F1A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94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5745-3A2F-4BAC-A30E-9A1506BC403C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806A-5134-4537-88F1-A26AD2F1A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823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5745-3A2F-4BAC-A30E-9A1506BC403C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806A-5134-4537-88F1-A26AD2F1A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26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5745-3A2F-4BAC-A30E-9A1506BC403C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806A-5134-4537-88F1-A26AD2F1A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460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5745-3A2F-4BAC-A30E-9A1506BC403C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806A-5134-4537-88F1-A26AD2F1A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02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5745-3A2F-4BAC-A30E-9A1506BC403C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806A-5134-4537-88F1-A26AD2F1A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8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5745-3A2F-4BAC-A30E-9A1506BC403C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806A-5134-4537-88F1-A26AD2F1A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37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5745-3A2F-4BAC-A30E-9A1506BC403C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F806A-5134-4537-88F1-A26AD2F1A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109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609600" y="3938593"/>
            <a:ext cx="10972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2610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25745-3A2F-4BAC-A30E-9A1506BC403C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F806A-5134-4537-88F1-A26AD2F1A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23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9B8B995F-4622-3657-64D0-06BEC1C9F801}"/>
              </a:ext>
            </a:extLst>
          </p:cNvPr>
          <p:cNvSpPr>
            <a:spLocks noChangeAspect="1"/>
          </p:cNvSpPr>
          <p:nvPr/>
        </p:nvSpPr>
        <p:spPr>
          <a:xfrm>
            <a:off x="3649385" y="5188015"/>
            <a:ext cx="1493056" cy="1493056"/>
          </a:xfrm>
          <a:prstGeom prst="rect">
            <a:avLst/>
          </a:prstGeom>
          <a:solidFill>
            <a:srgbClr val="FCAC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7E2F3D1-8002-B7BA-C059-93A68818FD64}"/>
              </a:ext>
            </a:extLst>
          </p:cNvPr>
          <p:cNvSpPr>
            <a:spLocks noChangeAspect="1"/>
          </p:cNvSpPr>
          <p:nvPr/>
        </p:nvSpPr>
        <p:spPr>
          <a:xfrm>
            <a:off x="5348446" y="5188015"/>
            <a:ext cx="1493056" cy="1493056"/>
          </a:xfrm>
          <a:prstGeom prst="rect">
            <a:avLst/>
          </a:prstGeom>
          <a:solidFill>
            <a:srgbClr val="F9C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ECCEB42-BEF8-E1F0-BA78-F40C17B0D721}"/>
              </a:ext>
            </a:extLst>
          </p:cNvPr>
          <p:cNvSpPr>
            <a:spLocks noChangeAspect="1"/>
          </p:cNvSpPr>
          <p:nvPr/>
        </p:nvSpPr>
        <p:spPr>
          <a:xfrm>
            <a:off x="7047507" y="5188015"/>
            <a:ext cx="1493056" cy="1493056"/>
          </a:xfrm>
          <a:prstGeom prst="rect">
            <a:avLst/>
          </a:prstGeom>
          <a:solidFill>
            <a:srgbClr val="EDE3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4A0992B-B7F4-9E2B-7297-25E7CDEA6052}"/>
              </a:ext>
            </a:extLst>
          </p:cNvPr>
          <p:cNvSpPr>
            <a:spLocks noChangeAspect="1"/>
          </p:cNvSpPr>
          <p:nvPr/>
        </p:nvSpPr>
        <p:spPr>
          <a:xfrm>
            <a:off x="8746568" y="5188015"/>
            <a:ext cx="1493056" cy="1493056"/>
          </a:xfrm>
          <a:prstGeom prst="rect">
            <a:avLst/>
          </a:prstGeom>
          <a:solidFill>
            <a:srgbClr val="DAE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2A3C8C4-3E47-2529-8175-006025E61F96}"/>
              </a:ext>
            </a:extLst>
          </p:cNvPr>
          <p:cNvSpPr>
            <a:spLocks noChangeAspect="1"/>
          </p:cNvSpPr>
          <p:nvPr/>
        </p:nvSpPr>
        <p:spPr>
          <a:xfrm>
            <a:off x="10445629" y="5188015"/>
            <a:ext cx="1493056" cy="1493056"/>
          </a:xfrm>
          <a:prstGeom prst="rect">
            <a:avLst/>
          </a:prstGeom>
          <a:solidFill>
            <a:srgbClr val="A9D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BD1FB8-E479-0D53-337F-59E8982F2E0A}"/>
              </a:ext>
            </a:extLst>
          </p:cNvPr>
          <p:cNvSpPr>
            <a:spLocks noChangeAspect="1"/>
          </p:cNvSpPr>
          <p:nvPr/>
        </p:nvSpPr>
        <p:spPr>
          <a:xfrm>
            <a:off x="1950324" y="5188015"/>
            <a:ext cx="1493056" cy="1493056"/>
          </a:xfrm>
          <a:prstGeom prst="rect">
            <a:avLst/>
          </a:prstGeom>
          <a:solidFill>
            <a:srgbClr val="1DAACC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77CA7D-BE3A-DA75-8A80-0EB5AEF3AE56}"/>
              </a:ext>
            </a:extLst>
          </p:cNvPr>
          <p:cNvSpPr>
            <a:spLocks noChangeAspect="1"/>
          </p:cNvSpPr>
          <p:nvPr/>
        </p:nvSpPr>
        <p:spPr>
          <a:xfrm>
            <a:off x="251263" y="5188015"/>
            <a:ext cx="1493056" cy="1493056"/>
          </a:xfrm>
          <a:prstGeom prst="rect">
            <a:avLst/>
          </a:prstGeom>
          <a:solidFill>
            <a:srgbClr val="6D41BD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70796EB-3211-C993-5EBE-E6752793AA62}"/>
              </a:ext>
            </a:extLst>
          </p:cNvPr>
          <p:cNvSpPr>
            <a:spLocks noChangeAspect="1"/>
          </p:cNvSpPr>
          <p:nvPr/>
        </p:nvSpPr>
        <p:spPr>
          <a:xfrm>
            <a:off x="3649385" y="3519034"/>
            <a:ext cx="1493056" cy="1493056"/>
          </a:xfrm>
          <a:prstGeom prst="rect">
            <a:avLst/>
          </a:prstGeom>
          <a:solidFill>
            <a:srgbClr val="FB7B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55B6A39-D9DA-274F-B1BC-D62950204864}"/>
              </a:ext>
            </a:extLst>
          </p:cNvPr>
          <p:cNvSpPr>
            <a:spLocks noChangeAspect="1"/>
          </p:cNvSpPr>
          <p:nvPr/>
        </p:nvSpPr>
        <p:spPr>
          <a:xfrm>
            <a:off x="5348446" y="3519034"/>
            <a:ext cx="1493056" cy="1493056"/>
          </a:xfrm>
          <a:prstGeom prst="rect">
            <a:avLst/>
          </a:prstGeom>
          <a:solidFill>
            <a:srgbClr val="F69C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C5A2F92-0831-9C73-6A1E-5556F4472431}"/>
              </a:ext>
            </a:extLst>
          </p:cNvPr>
          <p:cNvSpPr>
            <a:spLocks noChangeAspect="1"/>
          </p:cNvSpPr>
          <p:nvPr/>
        </p:nvSpPr>
        <p:spPr>
          <a:xfrm>
            <a:off x="7047507" y="3519034"/>
            <a:ext cx="1493056" cy="1493056"/>
          </a:xfrm>
          <a:prstGeom prst="rect">
            <a:avLst/>
          </a:prstGeom>
          <a:solidFill>
            <a:srgbClr val="E1D0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729880F-58B6-8B45-638A-0EDF7DD93622}"/>
              </a:ext>
            </a:extLst>
          </p:cNvPr>
          <p:cNvSpPr>
            <a:spLocks noChangeAspect="1"/>
          </p:cNvSpPr>
          <p:nvPr/>
        </p:nvSpPr>
        <p:spPr>
          <a:xfrm>
            <a:off x="8746568" y="3519034"/>
            <a:ext cx="1493056" cy="1493056"/>
          </a:xfrm>
          <a:prstGeom prst="rect">
            <a:avLst/>
          </a:prstGeom>
          <a:solidFill>
            <a:srgbClr val="C6D5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5E2FDA5-1757-516D-B374-AAC4D04CB8BE}"/>
              </a:ext>
            </a:extLst>
          </p:cNvPr>
          <p:cNvSpPr>
            <a:spLocks noChangeAspect="1"/>
          </p:cNvSpPr>
          <p:nvPr/>
        </p:nvSpPr>
        <p:spPr>
          <a:xfrm>
            <a:off x="10445629" y="3519034"/>
            <a:ext cx="1493056" cy="1493056"/>
          </a:xfrm>
          <a:prstGeom prst="rect">
            <a:avLst/>
          </a:prstGeom>
          <a:solidFill>
            <a:srgbClr val="6ABB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B8243D-75C5-F01D-9316-4E8F41A2C441}"/>
              </a:ext>
            </a:extLst>
          </p:cNvPr>
          <p:cNvSpPr>
            <a:spLocks noChangeAspect="1"/>
          </p:cNvSpPr>
          <p:nvPr/>
        </p:nvSpPr>
        <p:spPr>
          <a:xfrm>
            <a:off x="1950324" y="3519034"/>
            <a:ext cx="1493056" cy="1493056"/>
          </a:xfrm>
          <a:prstGeom prst="rect">
            <a:avLst/>
          </a:prstGeom>
          <a:solidFill>
            <a:srgbClr val="1DAACC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FDF8D6-193F-3D81-4A87-34CFB4204C30}"/>
              </a:ext>
            </a:extLst>
          </p:cNvPr>
          <p:cNvSpPr>
            <a:spLocks noChangeAspect="1"/>
          </p:cNvSpPr>
          <p:nvPr/>
        </p:nvSpPr>
        <p:spPr>
          <a:xfrm>
            <a:off x="251263" y="3519034"/>
            <a:ext cx="1493056" cy="1493056"/>
          </a:xfrm>
          <a:prstGeom prst="rect">
            <a:avLst/>
          </a:prstGeom>
          <a:solidFill>
            <a:srgbClr val="6D41BD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EBADED-4273-C81A-650D-6E6B05F75E11}"/>
              </a:ext>
            </a:extLst>
          </p:cNvPr>
          <p:cNvSpPr>
            <a:spLocks noChangeAspect="1"/>
          </p:cNvSpPr>
          <p:nvPr/>
        </p:nvSpPr>
        <p:spPr>
          <a:xfrm>
            <a:off x="3704515" y="181070"/>
            <a:ext cx="1463071" cy="1463071"/>
          </a:xfrm>
          <a:prstGeom prst="rect">
            <a:avLst/>
          </a:prstGeom>
          <a:solidFill>
            <a:srgbClr val="B712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928F7C-4010-C072-D277-211BAC85E078}"/>
              </a:ext>
            </a:extLst>
          </p:cNvPr>
          <p:cNvSpPr>
            <a:spLocks noChangeAspect="1"/>
          </p:cNvSpPr>
          <p:nvPr/>
        </p:nvSpPr>
        <p:spPr>
          <a:xfrm>
            <a:off x="5394539" y="181070"/>
            <a:ext cx="1463071" cy="1463071"/>
          </a:xfrm>
          <a:prstGeom prst="rect">
            <a:avLst/>
          </a:prstGeom>
          <a:solidFill>
            <a:srgbClr val="C75C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0A5702-05D5-1E05-C9E5-1AAF2B7EED43}"/>
              </a:ext>
            </a:extLst>
          </p:cNvPr>
          <p:cNvSpPr>
            <a:spLocks noChangeAspect="1"/>
          </p:cNvSpPr>
          <p:nvPr/>
        </p:nvSpPr>
        <p:spPr>
          <a:xfrm>
            <a:off x="7084563" y="181070"/>
            <a:ext cx="1463071" cy="1463071"/>
          </a:xfrm>
          <a:prstGeom prst="rect">
            <a:avLst/>
          </a:prstGeom>
          <a:solidFill>
            <a:srgbClr val="9C8D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8EC3C5-3929-1940-BD29-9EE49272B747}"/>
              </a:ext>
            </a:extLst>
          </p:cNvPr>
          <p:cNvSpPr>
            <a:spLocks noChangeAspect="1"/>
          </p:cNvSpPr>
          <p:nvPr/>
        </p:nvSpPr>
        <p:spPr>
          <a:xfrm>
            <a:off x="8774587" y="181070"/>
            <a:ext cx="1463071" cy="1463071"/>
          </a:xfrm>
          <a:prstGeom prst="rect">
            <a:avLst/>
          </a:prstGeom>
          <a:solidFill>
            <a:srgbClr val="5B64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F1F71D-EB66-F872-3896-8F877724A0ED}"/>
              </a:ext>
            </a:extLst>
          </p:cNvPr>
          <p:cNvSpPr>
            <a:spLocks noChangeAspect="1"/>
          </p:cNvSpPr>
          <p:nvPr/>
        </p:nvSpPr>
        <p:spPr>
          <a:xfrm>
            <a:off x="10464608" y="181070"/>
            <a:ext cx="1463071" cy="1463071"/>
          </a:xfrm>
          <a:prstGeom prst="rect">
            <a:avLst/>
          </a:prstGeom>
          <a:solidFill>
            <a:srgbClr val="2B4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01B1A1-9D9B-5ABB-CEC2-8F004B33531F}"/>
              </a:ext>
            </a:extLst>
          </p:cNvPr>
          <p:cNvSpPr>
            <a:spLocks noChangeAspect="1"/>
          </p:cNvSpPr>
          <p:nvPr/>
        </p:nvSpPr>
        <p:spPr>
          <a:xfrm>
            <a:off x="1989186" y="181070"/>
            <a:ext cx="1493056" cy="1493056"/>
          </a:xfrm>
          <a:prstGeom prst="rect">
            <a:avLst/>
          </a:prstGeom>
          <a:solidFill>
            <a:srgbClr val="1DAACC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A73125-E0D0-7BA6-0437-04F92B4519D7}"/>
              </a:ext>
            </a:extLst>
          </p:cNvPr>
          <p:cNvSpPr>
            <a:spLocks noChangeAspect="1"/>
          </p:cNvSpPr>
          <p:nvPr/>
        </p:nvSpPr>
        <p:spPr>
          <a:xfrm>
            <a:off x="257589" y="181070"/>
            <a:ext cx="1493056" cy="1493056"/>
          </a:xfrm>
          <a:prstGeom prst="rect">
            <a:avLst/>
          </a:prstGeom>
          <a:solidFill>
            <a:srgbClr val="6D41BD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2F84EC4-B84C-CBCB-C7D9-01563E51B461}"/>
              </a:ext>
            </a:extLst>
          </p:cNvPr>
          <p:cNvSpPr>
            <a:spLocks noChangeAspect="1"/>
          </p:cNvSpPr>
          <p:nvPr/>
        </p:nvSpPr>
        <p:spPr>
          <a:xfrm>
            <a:off x="3660231" y="1850052"/>
            <a:ext cx="1493056" cy="1493056"/>
          </a:xfrm>
          <a:prstGeom prst="rect">
            <a:avLst/>
          </a:prstGeom>
          <a:solidFill>
            <a:srgbClr val="FA56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B01A1ED-F6B7-A9C8-E38A-95D34DD37633}"/>
              </a:ext>
            </a:extLst>
          </p:cNvPr>
          <p:cNvSpPr>
            <a:spLocks noChangeAspect="1"/>
          </p:cNvSpPr>
          <p:nvPr/>
        </p:nvSpPr>
        <p:spPr>
          <a:xfrm>
            <a:off x="5356581" y="1850052"/>
            <a:ext cx="1493056" cy="1493056"/>
          </a:xfrm>
          <a:prstGeom prst="rect">
            <a:avLst/>
          </a:prstGeom>
          <a:solidFill>
            <a:srgbClr val="F37E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FAB35F5-81BB-81DD-6A15-1F89C09FF3D5}"/>
              </a:ext>
            </a:extLst>
          </p:cNvPr>
          <p:cNvSpPr>
            <a:spLocks noChangeAspect="1"/>
          </p:cNvSpPr>
          <p:nvPr/>
        </p:nvSpPr>
        <p:spPr>
          <a:xfrm>
            <a:off x="7052931" y="1850052"/>
            <a:ext cx="1493056" cy="1493056"/>
          </a:xfrm>
          <a:prstGeom prst="rect">
            <a:avLst/>
          </a:prstGeom>
          <a:solidFill>
            <a:srgbClr val="D9C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81E3C20-878C-658C-D8B0-BB66C13A8E34}"/>
              </a:ext>
            </a:extLst>
          </p:cNvPr>
          <p:cNvSpPr>
            <a:spLocks noChangeAspect="1"/>
          </p:cNvSpPr>
          <p:nvPr/>
        </p:nvSpPr>
        <p:spPr>
          <a:xfrm>
            <a:off x="8749281" y="1850052"/>
            <a:ext cx="1493056" cy="1493056"/>
          </a:xfrm>
          <a:prstGeom prst="rect">
            <a:avLst/>
          </a:prstGeom>
          <a:solidFill>
            <a:srgbClr val="94A3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5FF2EAD-8E11-3C67-6BC5-4929D32AF5BA}"/>
              </a:ext>
            </a:extLst>
          </p:cNvPr>
          <p:cNvSpPr>
            <a:spLocks noChangeAspect="1"/>
          </p:cNvSpPr>
          <p:nvPr/>
        </p:nvSpPr>
        <p:spPr>
          <a:xfrm>
            <a:off x="10445629" y="1850052"/>
            <a:ext cx="1493056" cy="1493056"/>
          </a:xfrm>
          <a:prstGeom prst="rect">
            <a:avLst/>
          </a:prstGeom>
          <a:solidFill>
            <a:srgbClr val="3D6F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095388-C0D9-E973-34C2-76E208A4FC24}"/>
              </a:ext>
            </a:extLst>
          </p:cNvPr>
          <p:cNvSpPr>
            <a:spLocks noChangeAspect="1"/>
          </p:cNvSpPr>
          <p:nvPr/>
        </p:nvSpPr>
        <p:spPr>
          <a:xfrm>
            <a:off x="1963881" y="1850052"/>
            <a:ext cx="1493056" cy="1493056"/>
          </a:xfrm>
          <a:prstGeom prst="rect">
            <a:avLst/>
          </a:prstGeom>
          <a:solidFill>
            <a:srgbClr val="1DABC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CE5F19-AE05-A046-9C4B-7336863900D2}"/>
              </a:ext>
            </a:extLst>
          </p:cNvPr>
          <p:cNvSpPr>
            <a:spLocks noChangeAspect="1"/>
          </p:cNvSpPr>
          <p:nvPr/>
        </p:nvSpPr>
        <p:spPr>
          <a:xfrm>
            <a:off x="251263" y="1850052"/>
            <a:ext cx="1493056" cy="1493056"/>
          </a:xfrm>
          <a:prstGeom prst="rect">
            <a:avLst/>
          </a:prstGeom>
          <a:solidFill>
            <a:srgbClr val="8763C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5341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Pérez-Ramirez  Javier</dc:creator>
  <cp:lastModifiedBy>Martin Fernandez  Antonio José</cp:lastModifiedBy>
  <cp:revision>4</cp:revision>
  <dcterms:created xsi:type="dcterms:W3CDTF">2023-02-08T11:17:09Z</dcterms:created>
  <dcterms:modified xsi:type="dcterms:W3CDTF">2023-02-08T11:52:13Z</dcterms:modified>
</cp:coreProperties>
</file>