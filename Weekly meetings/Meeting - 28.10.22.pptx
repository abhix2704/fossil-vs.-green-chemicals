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326" r:id="rId3"/>
    <p:sldId id="327" r:id="rId4"/>
    <p:sldId id="330" r:id="rId5"/>
    <p:sldId id="331" r:id="rId6"/>
    <p:sldId id="339" r:id="rId7"/>
    <p:sldId id="333" r:id="rId8"/>
    <p:sldId id="335" r:id="rId9"/>
    <p:sldId id="342" r:id="rId10"/>
    <p:sldId id="334" r:id="rId11"/>
    <p:sldId id="343" r:id="rId12"/>
    <p:sldId id="338" r:id="rId13"/>
    <p:sldId id="340" r:id="rId14"/>
    <p:sldId id="341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1FF"/>
    <a:srgbClr val="FF0505"/>
    <a:srgbClr val="FFA401"/>
    <a:srgbClr val="007D00"/>
    <a:srgbClr val="7F7F7F"/>
    <a:srgbClr val="007A9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 showGuides="1">
      <p:cViewPr>
        <p:scale>
          <a:sx n="180" d="100"/>
          <a:sy n="180" d="100"/>
        </p:scale>
        <p:origin x="-666" y="-2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4176" y="4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28.10.2022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28.10.2022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Organisationseinheit verbal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Organisationseinheit verbal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 descr="Ein Bild, das Gebäude, Stadt, Schloss, Turm enthält.&#10;&#10;Automatisch generierte Beschreibung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" b="461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2233538"/>
            <a:ext cx="9582913" cy="2772000"/>
          </a:xfrm>
        </p:spPr>
        <p:txBody>
          <a:bodyPr/>
          <a:lstStyle/>
          <a:p>
            <a:r>
              <a:rPr lang="de-DE" dirty="0"/>
              <a:t>Natural gas v alternative </a:t>
            </a:r>
            <a:r>
              <a:rPr lang="de-DE" dirty="0" err="1"/>
              <a:t>routes</a:t>
            </a:r>
            <a:r>
              <a:rPr lang="de-DE" dirty="0"/>
              <a:t> for </a:t>
            </a:r>
            <a:r>
              <a:rPr lang="de-DE" dirty="0" err="1"/>
              <a:t>production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chemicals</a:t>
            </a:r>
            <a:r>
              <a:rPr lang="de-DE" dirty="0"/>
              <a:t> in 2022</a:t>
            </a:r>
            <a:endParaRPr lang="de-CH" sz="200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54453" y="3959875"/>
            <a:ext cx="4680000" cy="1008000"/>
          </a:xfrm>
        </p:spPr>
        <p:txBody>
          <a:bodyPr/>
          <a:lstStyle/>
          <a:p>
            <a:r>
              <a:rPr lang="de-DE" b="1" dirty="0"/>
              <a:t>Abhinandan Nabera</a:t>
            </a:r>
          </a:p>
          <a:p>
            <a:r>
              <a:rPr lang="de-DE" dirty="0"/>
              <a:t>28. </a:t>
            </a:r>
            <a:r>
              <a:rPr lang="de-DE" dirty="0" err="1"/>
              <a:t>October</a:t>
            </a:r>
            <a:r>
              <a:rPr lang="de-DE" dirty="0"/>
              <a:t> 2022</a:t>
            </a:r>
            <a:endParaRPr lang="de-CH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6B18E6F-BDD9-4B0B-9B9E-C25187E0E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11158" y="355832"/>
            <a:ext cx="3049005" cy="346715"/>
          </a:xfrm>
        </p:spPr>
        <p:txBody>
          <a:bodyPr/>
          <a:lstStyle/>
          <a:p>
            <a:r>
              <a:rPr lang="de-DE" dirty="0"/>
              <a:t>Institute for Chemical and Bioengineering</a:t>
            </a:r>
          </a:p>
          <a:p>
            <a:r>
              <a:rPr lang="de-DE" dirty="0"/>
              <a:t>Sustainable Process Systems Engineering Lab</a:t>
            </a:r>
          </a:p>
        </p:txBody>
      </p:sp>
      <p:pic>
        <p:nvPicPr>
          <p:cNvPr id="8" name="Bildplatzhalter 12">
            <a:extLst>
              <a:ext uri="{FF2B5EF4-FFF2-40B4-BE49-F238E27FC236}">
                <a16:creationId xmlns:a16="http://schemas.microsoft.com/office/drawing/2014/main" id="{A8263AB7-96B1-713F-8090-21CF1977D44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3045" y="6431200"/>
            <a:ext cx="787118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1785-61EB-68A9-6C32-4E6AA002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Natural gas prices </a:t>
            </a:r>
            <a:r>
              <a:rPr lang="en-US" dirty="0"/>
              <a:t>have </a:t>
            </a:r>
            <a:r>
              <a:rPr lang="en-US" dirty="0">
                <a:solidFill>
                  <a:srgbClr val="FF0000"/>
                </a:solidFill>
              </a:rPr>
              <a:t>increased sharply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A7CA-1E14-1816-1A81-E0DD6A47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C797C-0F44-FDC0-B4BC-7C787931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53AB-EAFE-339D-E319-AABC2EA6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1A1681-C24E-0343-AF94-27C06ABE9E86}"/>
              </a:ext>
            </a:extLst>
          </p:cNvPr>
          <p:cNvSpPr txBox="1"/>
          <p:nvPr/>
        </p:nvSpPr>
        <p:spPr>
          <a:xfrm>
            <a:off x="8668511" y="1328928"/>
            <a:ext cx="33119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Aftermath of COVID-19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Soaring inflation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Climate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War on Ukraine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0261387-748C-B771-98E3-EBD0713923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91" y="1297277"/>
            <a:ext cx="8313410" cy="4679950"/>
          </a:xfrm>
        </p:spPr>
      </p:pic>
    </p:spTree>
    <p:extLst>
      <p:ext uri="{BB962C8B-B14F-4D97-AF65-F5344CB8AC3E}">
        <p14:creationId xmlns:p14="http://schemas.microsoft.com/office/powerpoint/2010/main" val="314338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1785-61EB-68A9-6C32-4E6AA002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gas contributes around </a:t>
            </a:r>
            <a:r>
              <a:rPr lang="en-US" dirty="0">
                <a:solidFill>
                  <a:srgbClr val="FF0000"/>
                </a:solidFill>
              </a:rPr>
              <a:t>20.5%</a:t>
            </a:r>
            <a:r>
              <a:rPr lang="en-US" dirty="0"/>
              <a:t> towards the electricity mix…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A7CA-1E14-1816-1A81-E0DD6A47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C797C-0F44-FDC0-B4BC-7C787931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53AB-EAFE-339D-E319-AABC2EA6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</a:t>
            </a:fld>
            <a:endParaRPr lang="de-CH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1A1681-C24E-0343-AF94-27C06ABE9E86}"/>
              </a:ext>
            </a:extLst>
          </p:cNvPr>
          <p:cNvSpPr txBox="1"/>
          <p:nvPr/>
        </p:nvSpPr>
        <p:spPr>
          <a:xfrm>
            <a:off x="8668511" y="1328928"/>
            <a:ext cx="331199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of 2021, 20.5% of the electricity comes from natural gas in the EU.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Electricity prices have also increased sharply following a similar trend.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0261387-748C-B771-98E3-EBD0713923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8991" y="1297277"/>
            <a:ext cx="8313410" cy="4679949"/>
          </a:xfrm>
        </p:spPr>
      </p:pic>
    </p:spTree>
    <p:extLst>
      <p:ext uri="{BB962C8B-B14F-4D97-AF65-F5344CB8AC3E}">
        <p14:creationId xmlns:p14="http://schemas.microsoft.com/office/powerpoint/2010/main" val="92518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1785-61EB-68A9-6C32-4E6AA002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a result, </a:t>
            </a:r>
            <a:r>
              <a:rPr lang="en-US" dirty="0">
                <a:solidFill>
                  <a:srgbClr val="FF0000"/>
                </a:solidFill>
              </a:rPr>
              <a:t>ammonia production </a:t>
            </a:r>
            <a:r>
              <a:rPr lang="en-US" dirty="0"/>
              <a:t>from natural gas (BAU) has become expensive…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A7CA-1E14-1816-1A81-E0DD6A47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C797C-0F44-FDC0-B4BC-7C787931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53AB-EAFE-339D-E319-AABC2EA6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1A1681-C24E-0343-AF94-27C06ABE9E86}"/>
              </a:ext>
            </a:extLst>
          </p:cNvPr>
          <p:cNvSpPr txBox="1"/>
          <p:nvPr/>
        </p:nvSpPr>
        <p:spPr>
          <a:xfrm>
            <a:off x="8668511" y="1328928"/>
            <a:ext cx="33119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 kg of ammonia requires </a:t>
            </a:r>
            <a:r>
              <a:rPr lang="en-US" dirty="0">
                <a:solidFill>
                  <a:srgbClr val="FF0000"/>
                </a:solidFill>
              </a:rPr>
              <a:t>0.43 kg </a:t>
            </a:r>
            <a:r>
              <a:rPr lang="en-US" dirty="0"/>
              <a:t>of NG as </a:t>
            </a:r>
            <a:r>
              <a:rPr lang="en-US" dirty="0">
                <a:solidFill>
                  <a:srgbClr val="FF0000"/>
                </a:solidFill>
              </a:rPr>
              <a:t>feedstock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0.10 kg </a:t>
            </a:r>
            <a:r>
              <a:rPr lang="en-US" dirty="0"/>
              <a:t>of NG for </a:t>
            </a:r>
            <a:r>
              <a:rPr lang="en-US" dirty="0">
                <a:solidFill>
                  <a:srgbClr val="FF0000"/>
                </a:solidFill>
              </a:rPr>
              <a:t>heating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Also, 1 kg of ammonia requires </a:t>
            </a:r>
            <a:r>
              <a:rPr lang="en-US" dirty="0">
                <a:solidFill>
                  <a:srgbClr val="FF0000"/>
                </a:solidFill>
              </a:rPr>
              <a:t>0.94 kWh </a:t>
            </a:r>
            <a:r>
              <a:rPr lang="en-US" dirty="0"/>
              <a:t>of </a:t>
            </a:r>
            <a:r>
              <a:rPr lang="en-US" dirty="0">
                <a:solidFill>
                  <a:srgbClr val="FF0000"/>
                </a:solidFill>
              </a:rPr>
              <a:t>electricity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0261387-748C-B771-98E3-EBD0713923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8992" y="1297277"/>
            <a:ext cx="8313408" cy="4679949"/>
          </a:xfrm>
        </p:spPr>
      </p:pic>
    </p:spTree>
    <p:extLst>
      <p:ext uri="{BB962C8B-B14F-4D97-AF65-F5344CB8AC3E}">
        <p14:creationId xmlns:p14="http://schemas.microsoft.com/office/powerpoint/2010/main" val="1848210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1785-61EB-68A9-6C32-4E6AA002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Also, </a:t>
            </a:r>
            <a:r>
              <a:rPr lang="en-US" dirty="0">
                <a:solidFill>
                  <a:srgbClr val="FF0000"/>
                </a:solidFill>
              </a:rPr>
              <a:t>methanol production </a:t>
            </a:r>
            <a:r>
              <a:rPr lang="en-US" dirty="0"/>
              <a:t>from natural gas (BAU) has become uneconomical…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A7CA-1E14-1816-1A81-E0DD6A47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C797C-0F44-FDC0-B4BC-7C787931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53AB-EAFE-339D-E319-AABC2EA6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0261387-748C-B771-98E3-EBD0713923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8992" y="1297277"/>
            <a:ext cx="8313408" cy="467994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72E932-C696-57C4-E9C9-BBD58A6FDBA8}"/>
              </a:ext>
            </a:extLst>
          </p:cNvPr>
          <p:cNvSpPr txBox="1"/>
          <p:nvPr/>
        </p:nvSpPr>
        <p:spPr>
          <a:xfrm>
            <a:off x="8668511" y="1328928"/>
            <a:ext cx="33119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 kg of methanol requires </a:t>
            </a:r>
            <a:r>
              <a:rPr lang="en-US" dirty="0">
                <a:solidFill>
                  <a:srgbClr val="FF0000"/>
                </a:solidFill>
              </a:rPr>
              <a:t>0.61 kg </a:t>
            </a:r>
            <a:r>
              <a:rPr lang="en-US" dirty="0"/>
              <a:t>of NG as </a:t>
            </a:r>
            <a:r>
              <a:rPr lang="en-US" dirty="0">
                <a:solidFill>
                  <a:srgbClr val="FF0000"/>
                </a:solidFill>
              </a:rPr>
              <a:t>feedstock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0.05 kg </a:t>
            </a:r>
            <a:r>
              <a:rPr lang="en-US" dirty="0"/>
              <a:t>of NG for </a:t>
            </a:r>
            <a:r>
              <a:rPr lang="en-US" dirty="0">
                <a:solidFill>
                  <a:srgbClr val="FF0000"/>
                </a:solidFill>
              </a:rPr>
              <a:t>heating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Also, 1 kg of methanol requires </a:t>
            </a:r>
            <a:r>
              <a:rPr lang="en-US" dirty="0">
                <a:solidFill>
                  <a:srgbClr val="FF0000"/>
                </a:solidFill>
              </a:rPr>
              <a:t>0.71 kWh </a:t>
            </a:r>
            <a:r>
              <a:rPr lang="en-US" dirty="0"/>
              <a:t>of </a:t>
            </a:r>
            <a:r>
              <a:rPr lang="en-US" dirty="0">
                <a:solidFill>
                  <a:srgbClr val="FF0000"/>
                </a:solidFill>
              </a:rPr>
              <a:t>electricity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71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1785-61EB-68A9-6C32-4E6AA002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validation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A7CA-1E14-1816-1A81-E0DD6A47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C797C-0F44-FDC0-B4BC-7C787931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53AB-EAFE-339D-E319-AABC2EA6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3505AB-3F98-0D10-0C8A-59F434D27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02" y="914401"/>
            <a:ext cx="10391290" cy="546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08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1785-61EB-68A9-6C32-4E6AA002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Green ammonia </a:t>
            </a:r>
            <a:r>
              <a:rPr lang="en-US" dirty="0"/>
              <a:t>is </a:t>
            </a:r>
            <a:r>
              <a:rPr lang="en-US" dirty="0">
                <a:solidFill>
                  <a:srgbClr val="FF0000"/>
                </a:solidFill>
              </a:rPr>
              <a:t>more feasible </a:t>
            </a:r>
            <a:r>
              <a:rPr lang="en-US" dirty="0"/>
              <a:t>in the current scenario economically…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A7CA-1E14-1816-1A81-E0DD6A47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C797C-0F44-FDC0-B4BC-7C787931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53AB-EAFE-339D-E319-AABC2EA6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72E932-C696-57C4-E9C9-BBD58A6FDBA8}"/>
              </a:ext>
            </a:extLst>
          </p:cNvPr>
          <p:cNvSpPr txBox="1"/>
          <p:nvPr/>
        </p:nvSpPr>
        <p:spPr>
          <a:xfrm>
            <a:off x="9312442" y="1467853"/>
            <a:ext cx="266806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LCOE values for solar and wind obtained from IRENA for the respective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LCOH values calculated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LCOH values for nuclear and biomass obtained from Parkinson and adjusted for inflation 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AF2807C-00A8-E8C2-EEF6-6C7FDB0214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" y="780320"/>
            <a:ext cx="8399508" cy="5675344"/>
          </a:xfrm>
        </p:spPr>
      </p:pic>
    </p:spTree>
    <p:extLst>
      <p:ext uri="{BB962C8B-B14F-4D97-AF65-F5344CB8AC3E}">
        <p14:creationId xmlns:p14="http://schemas.microsoft.com/office/powerpoint/2010/main" val="320027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1785-61EB-68A9-6C32-4E6AA002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Green ammonia </a:t>
            </a:r>
            <a:r>
              <a:rPr lang="en-US" dirty="0"/>
              <a:t>is </a:t>
            </a:r>
            <a:r>
              <a:rPr lang="en-US" dirty="0">
                <a:solidFill>
                  <a:srgbClr val="FF0000"/>
                </a:solidFill>
              </a:rPr>
              <a:t>more feasible </a:t>
            </a:r>
            <a:r>
              <a:rPr lang="en-US" dirty="0"/>
              <a:t>in the current scenario economically…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A7CA-1E14-1816-1A81-E0DD6A47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C797C-0F44-FDC0-B4BC-7C787931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53AB-EAFE-339D-E319-AABC2EA6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72E932-C696-57C4-E9C9-BBD58A6FDBA8}"/>
              </a:ext>
            </a:extLst>
          </p:cNvPr>
          <p:cNvSpPr txBox="1"/>
          <p:nvPr/>
        </p:nvSpPr>
        <p:spPr>
          <a:xfrm>
            <a:off x="9312442" y="1467853"/>
            <a:ext cx="26680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Renewable electricity is only used for the </a:t>
            </a:r>
            <a:r>
              <a:rPr lang="en-US" dirty="0" err="1"/>
              <a:t>electrolyzer</a:t>
            </a:r>
            <a:r>
              <a:rPr lang="en-US" dirty="0"/>
              <a:t> and the electricity mix is used for the process itself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process consumes </a:t>
            </a:r>
            <a:r>
              <a:rPr lang="en-US" dirty="0">
                <a:solidFill>
                  <a:srgbClr val="FF0000"/>
                </a:solidFill>
              </a:rPr>
              <a:t>0.47 kWh of electricity per kg of ammonia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33016B6-79DC-507B-2CC1-F58ED0AEB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Content Placeholder 9">
            <a:extLst>
              <a:ext uri="{FF2B5EF4-FFF2-40B4-BE49-F238E27FC236}">
                <a16:creationId xmlns:a16="http://schemas.microsoft.com/office/drawing/2014/main" id="{9EA26940-719B-8DEE-004E-900345611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" y="780320"/>
            <a:ext cx="8399508" cy="567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11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1785-61EB-68A9-6C32-4E6AA002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Green ammonia </a:t>
            </a:r>
            <a:r>
              <a:rPr lang="en-US" dirty="0"/>
              <a:t>is feasible not only at the peak of natural gas prices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A7CA-1E14-1816-1A81-E0DD6A47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C797C-0F44-FDC0-B4BC-7C787931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53AB-EAFE-339D-E319-AABC2EA6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D7CC4A0-F392-E8CC-5400-7511193B65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37" y="1160351"/>
            <a:ext cx="5836173" cy="4679950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AE7E89-3DFD-DD12-E620-D5D22427A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601" y="1160351"/>
            <a:ext cx="4838969" cy="467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835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1785-61EB-68A9-6C32-4E6AA002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Green methanol </a:t>
            </a:r>
            <a:r>
              <a:rPr lang="en-US" dirty="0"/>
              <a:t>is </a:t>
            </a:r>
            <a:r>
              <a:rPr lang="en-US" dirty="0">
                <a:solidFill>
                  <a:srgbClr val="FF0000"/>
                </a:solidFill>
              </a:rPr>
              <a:t>competitive </a:t>
            </a:r>
            <a:r>
              <a:rPr lang="en-US" dirty="0"/>
              <a:t>in the current scenario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A7CA-1E14-1816-1A81-E0DD6A47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C797C-0F44-FDC0-B4BC-7C787931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53AB-EAFE-339D-E319-AABC2EA6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72E932-C696-57C4-E9C9-BBD58A6FDBA8}"/>
              </a:ext>
            </a:extLst>
          </p:cNvPr>
          <p:cNvSpPr txBox="1"/>
          <p:nvPr/>
        </p:nvSpPr>
        <p:spPr>
          <a:xfrm>
            <a:off x="9312442" y="1467853"/>
            <a:ext cx="26680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Carbon dioxide from DAC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Carbon dioxide itself requires </a:t>
            </a:r>
            <a:r>
              <a:rPr lang="en-US" dirty="0">
                <a:solidFill>
                  <a:srgbClr val="FF0000"/>
                </a:solidFill>
              </a:rPr>
              <a:t>0.11 kg of NG per 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process consumes </a:t>
            </a:r>
            <a:r>
              <a:rPr lang="en-US" dirty="0">
                <a:solidFill>
                  <a:srgbClr val="FF0000"/>
                </a:solidFill>
              </a:rPr>
              <a:t>0.17 kWh of electricity</a:t>
            </a:r>
            <a:r>
              <a:rPr lang="en-US" dirty="0"/>
              <a:t> per kg of methanol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Content Placeholder 9">
            <a:extLst>
              <a:ext uri="{FF2B5EF4-FFF2-40B4-BE49-F238E27FC236}">
                <a16:creationId xmlns:a16="http://schemas.microsoft.com/office/drawing/2014/main" id="{548F6F11-3E6A-A52C-F86F-BD64E8DBB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2064" y="780320"/>
            <a:ext cx="8399508" cy="5675343"/>
          </a:xfrm>
        </p:spPr>
      </p:pic>
    </p:spTree>
    <p:extLst>
      <p:ext uri="{BB962C8B-B14F-4D97-AF65-F5344CB8AC3E}">
        <p14:creationId xmlns:p14="http://schemas.microsoft.com/office/powerpoint/2010/main" val="3152883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1785-61EB-68A9-6C32-4E6AA002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Green methanol </a:t>
            </a:r>
            <a:r>
              <a:rPr lang="en-US" dirty="0"/>
              <a:t>is feasible not only at the peak of natural gas prices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A7CA-1E14-1816-1A81-E0DD6A47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C797C-0F44-FDC0-B4BC-7C787931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53AB-EAFE-339D-E319-AABC2EA6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</a:t>
            </a:fld>
            <a:endParaRPr lang="de-CH" noProof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D7CC4A0-F392-E8CC-5400-7511193B65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952" y="1355593"/>
            <a:ext cx="5836173" cy="4289461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AE7E89-3DFD-DD12-E620-D5D22427A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6124" y="1355593"/>
            <a:ext cx="5836172" cy="428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49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1785-61EB-68A9-6C32-4E6AA002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Save money </a:t>
            </a:r>
            <a:r>
              <a:rPr lang="en-US" dirty="0"/>
              <a:t>by using green routes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A7CA-1E14-1816-1A81-E0DD6A47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C797C-0F44-FDC0-B4BC-7C787931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53AB-EAFE-339D-E319-AABC2EA6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12</a:t>
            </a:fld>
            <a:endParaRPr lang="de-CH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72E932-C696-57C4-E9C9-BBD58A6FDBA8}"/>
                  </a:ext>
                </a:extLst>
              </p:cNvPr>
              <p:cNvSpPr txBox="1"/>
              <p:nvPr/>
            </p:nvSpPr>
            <p:spPr>
              <a:xfrm>
                <a:off x="9312442" y="1467853"/>
                <a:ext cx="2668064" cy="3706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𝑎𝑙𝑡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𝐵𝐴𝑈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𝐺𝑊𝑃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𝐵𝐴𝑈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𝐺𝑊𝑃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𝑎𝑙𝑡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P.C – cost of production [$ t</a:t>
                </a:r>
                <a:r>
                  <a:rPr lang="en-US" baseline="30000" dirty="0"/>
                  <a:t>-1 </a:t>
                </a:r>
                <a:r>
                  <a:rPr lang="en-US" dirty="0"/>
                  <a:t>product]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alt – alternate route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GWP – global warming potential [t</a:t>
                </a:r>
                <a:r>
                  <a:rPr lang="en-US" baseline="-25000" dirty="0"/>
                  <a:t>CO2eq</a:t>
                </a:r>
                <a:r>
                  <a:rPr lang="en-US" dirty="0"/>
                  <a:t> t</a:t>
                </a:r>
                <a:r>
                  <a:rPr lang="en-US" baseline="30000" dirty="0"/>
                  <a:t>-1 </a:t>
                </a:r>
                <a:r>
                  <a:rPr lang="en-US" dirty="0"/>
                  <a:t>product]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72E932-C696-57C4-E9C9-BBD58A6FD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442" y="1467853"/>
                <a:ext cx="2668064" cy="3706912"/>
              </a:xfrm>
              <a:prstGeom prst="rect">
                <a:avLst/>
              </a:prstGeom>
              <a:blipFill>
                <a:blip r:embed="rId2"/>
                <a:stretch>
                  <a:fillRect l="-1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4553FE1-AC37-223B-0889-2D2F5D45A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" y="1097279"/>
            <a:ext cx="9472269" cy="498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94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1785-61EB-68A9-6C32-4E6AA002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Green hydrogen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A7CA-1E14-1816-1A81-E0DD6A47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C797C-0F44-FDC0-B4BC-7C787931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53AB-EAFE-339D-E319-AABC2EA6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D89DF52-E847-26C6-65F0-0C31E711E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41" y="932688"/>
            <a:ext cx="11116915" cy="5245481"/>
          </a:xfrm>
        </p:spPr>
      </p:pic>
    </p:spTree>
    <p:extLst>
      <p:ext uri="{BB962C8B-B14F-4D97-AF65-F5344CB8AC3E}">
        <p14:creationId xmlns:p14="http://schemas.microsoft.com/office/powerpoint/2010/main" val="3692971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1785-61EB-68A9-6C32-4E6AA002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Green hydrogen </a:t>
            </a:r>
            <a:r>
              <a:rPr lang="en-US" dirty="0"/>
              <a:t>avoidance costs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8A7CA-1E14-1816-1A81-E0DD6A47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28.10.2022</a:t>
            </a:fld>
            <a:endParaRPr lang="de-CH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C797C-0F44-FDC0-B4BC-7C787931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Sustainable Process Systems Engineering 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53AB-EAFE-339D-E319-AABC2EA6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14</a:t>
            </a:fld>
            <a:endParaRPr lang="de-CH" noProof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A6C4B65-508D-2867-069E-CDD072813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419" y="920496"/>
            <a:ext cx="6675162" cy="5269865"/>
          </a:xfrm>
        </p:spPr>
      </p:pic>
    </p:spTree>
    <p:extLst>
      <p:ext uri="{BB962C8B-B14F-4D97-AF65-F5344CB8AC3E}">
        <p14:creationId xmlns:p14="http://schemas.microsoft.com/office/powerpoint/2010/main" val="1451558045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ETH_Vorlage_Praesentation" id="{4B926070-AF32-7F40-B7F4-387B612D789A}" vid="{D694835D-6A8F-E347-A983-608C17A72CEC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ETH presentation template</Template>
  <TotalTime>0</TotalTime>
  <Words>447</Words>
  <Application>Microsoft Office PowerPoint</Application>
  <PresentationFormat>Widescreen</PresentationFormat>
  <Paragraphs>108</Paragraphs>
  <Slides>14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Cambria Math</vt:lpstr>
      <vt:lpstr>Symbol</vt:lpstr>
      <vt:lpstr>ETH Zürich</vt:lpstr>
      <vt:lpstr>Natural gas v alternative routes for production of chemicals in 2022</vt:lpstr>
      <vt:lpstr>Natural gas prices have increased sharply</vt:lpstr>
      <vt:lpstr>Natural gas contributes around 20.5% towards the electricity mix…</vt:lpstr>
      <vt:lpstr>As a result, ammonia production from natural gas (BAU) has become expensive…</vt:lpstr>
      <vt:lpstr>Also, methanol production from natural gas (BAU) has become uneconomical…</vt:lpstr>
      <vt:lpstr>Model validation</vt:lpstr>
      <vt:lpstr>Green ammonia is more feasible in the current scenario economically… </vt:lpstr>
      <vt:lpstr>Green ammonia is more feasible in the current scenario economically… </vt:lpstr>
      <vt:lpstr>Green ammonia is feasible not only at the peak of natural gas prices </vt:lpstr>
      <vt:lpstr>Green methanol is competitive in the current scenario </vt:lpstr>
      <vt:lpstr>Green methanol is feasible not only at the peak of natural gas prices </vt:lpstr>
      <vt:lpstr>Save money by using green routes</vt:lpstr>
      <vt:lpstr>Green hydrogen </vt:lpstr>
      <vt:lpstr>Green hydrogen avoidance costs 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 Dioxide to Propanol – Weekly Update</dc:title>
  <dc:creator>Nabera  Abhinandan</dc:creator>
  <cp:lastModifiedBy>Nabera  Abhinandan</cp:lastModifiedBy>
  <cp:revision>370</cp:revision>
  <dcterms:created xsi:type="dcterms:W3CDTF">2022-07-06T08:30:06Z</dcterms:created>
  <dcterms:modified xsi:type="dcterms:W3CDTF">2022-10-28T14:45:41Z</dcterms:modified>
</cp:coreProperties>
</file>