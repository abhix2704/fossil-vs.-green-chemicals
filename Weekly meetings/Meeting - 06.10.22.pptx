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8" r:id="rId3"/>
    <p:sldId id="261" r:id="rId4"/>
    <p:sldId id="315" r:id="rId5"/>
    <p:sldId id="316" r:id="rId6"/>
    <p:sldId id="317" r:id="rId7"/>
    <p:sldId id="318" r:id="rId8"/>
    <p:sldId id="319" r:id="rId9"/>
    <p:sldId id="326" r:id="rId10"/>
    <p:sldId id="327" r:id="rId11"/>
    <p:sldId id="32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7A9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78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06.10.2022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06.10.2022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9582913" cy="2772000"/>
          </a:xfrm>
        </p:spPr>
        <p:txBody>
          <a:bodyPr/>
          <a:lstStyle/>
          <a:p>
            <a:r>
              <a:rPr lang="de-DE" dirty="0"/>
              <a:t>Natural gas v alternative </a:t>
            </a:r>
            <a:r>
              <a:rPr lang="de-DE" dirty="0" err="1"/>
              <a:t>routes</a:t>
            </a:r>
            <a:r>
              <a:rPr lang="de-DE" dirty="0"/>
              <a:t> for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chemicals</a:t>
            </a:r>
            <a:r>
              <a:rPr lang="de-DE" dirty="0"/>
              <a:t> in 2022</a:t>
            </a:r>
            <a:endParaRPr lang="de-CH" sz="2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453" y="3959875"/>
            <a:ext cx="4680000" cy="1008000"/>
          </a:xfrm>
        </p:spPr>
        <p:txBody>
          <a:bodyPr/>
          <a:lstStyle/>
          <a:p>
            <a:r>
              <a:rPr lang="de-DE" b="1" dirty="0"/>
              <a:t>Abhinandan Nabera</a:t>
            </a:r>
          </a:p>
          <a:p>
            <a:r>
              <a:rPr lang="de-DE" dirty="0"/>
              <a:t>06. </a:t>
            </a:r>
            <a:r>
              <a:rPr lang="de-DE" dirty="0" err="1"/>
              <a:t>October</a:t>
            </a:r>
            <a:r>
              <a:rPr lang="de-DE" dirty="0"/>
              <a:t> 2022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11158" y="355832"/>
            <a:ext cx="3049005" cy="346715"/>
          </a:xfrm>
        </p:spPr>
        <p:txBody>
          <a:bodyPr/>
          <a:lstStyle/>
          <a:p>
            <a:r>
              <a:rPr lang="de-DE" dirty="0"/>
              <a:t>Institute for Chemical and Bioengineering</a:t>
            </a:r>
          </a:p>
          <a:p>
            <a:r>
              <a:rPr lang="de-DE" dirty="0"/>
              <a:t>Sustainable Process Systems Engineering Lab</a:t>
            </a:r>
          </a:p>
        </p:txBody>
      </p:sp>
      <p:pic>
        <p:nvPicPr>
          <p:cNvPr id="8" name="Bildplatzhalter 12">
            <a:extLst>
              <a:ext uri="{FF2B5EF4-FFF2-40B4-BE49-F238E27FC236}">
                <a16:creationId xmlns:a16="http://schemas.microsoft.com/office/drawing/2014/main" id="{A8263AB7-96B1-713F-8090-21CF1977D4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045" y="6431200"/>
            <a:ext cx="78711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Ammonia and methanol </a:t>
            </a:r>
            <a:r>
              <a:rPr lang="en-US" dirty="0"/>
              <a:t>are the most energy intensive chemicals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B281D1-C834-8EA2-E382-F319BE8D8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545" y="1609932"/>
            <a:ext cx="6012701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5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SMR and WGS </a:t>
            </a:r>
            <a:r>
              <a:rPr lang="de-DE" dirty="0"/>
              <a:t>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conventional</a:t>
            </a:r>
            <a:r>
              <a:rPr lang="de-DE" dirty="0"/>
              <a:t> hydrogen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890B72-F0E7-4CA2-39E3-64A315468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763885"/>
            <a:ext cx="8855207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Haber Bosch </a:t>
            </a:r>
            <a:r>
              <a:rPr lang="de-DE" dirty="0" err="1">
                <a:solidFill>
                  <a:srgbClr val="FF0000"/>
                </a:solidFill>
              </a:rPr>
              <a:t>process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ammonia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890B72-F0E7-4CA2-39E3-64A315468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253" y="1763885"/>
            <a:ext cx="8504893" cy="33302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B591B8-AC7E-3B31-E8FC-E542D98A3AE3}"/>
              </a:ext>
            </a:extLst>
          </p:cNvPr>
          <p:cNvSpPr txBox="1"/>
          <p:nvPr/>
        </p:nvSpPr>
        <p:spPr>
          <a:xfrm>
            <a:off x="8734902" y="1807428"/>
            <a:ext cx="3195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hydrogen from electrolysis </a:t>
            </a:r>
            <a:r>
              <a:rPr lang="en-US" i="1" dirty="0"/>
              <a:t>i.e., </a:t>
            </a:r>
            <a:r>
              <a:rPr lang="en-US" dirty="0"/>
              <a:t>green hydrogen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CD468-A946-75D8-CC7E-AE84C0AD6E51}"/>
              </a:ext>
            </a:extLst>
          </p:cNvPr>
          <p:cNvSpPr/>
          <p:nvPr/>
        </p:nvSpPr>
        <p:spPr>
          <a:xfrm>
            <a:off x="3595396" y="2593910"/>
            <a:ext cx="690465" cy="1368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9B4D46-5AC3-BF59-FE24-B195C3D5E69E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 flipV="1">
            <a:off x="4285861" y="2407593"/>
            <a:ext cx="4449041" cy="254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23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FF0000"/>
                </a:solidFill>
              </a:rPr>
              <a:t>Conventional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process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for </a:t>
            </a:r>
            <a:r>
              <a:rPr lang="de-DE" dirty="0" err="1"/>
              <a:t>methanol</a:t>
            </a:r>
            <a:r>
              <a:rPr lang="de-DE" dirty="0"/>
              <a:t> </a:t>
            </a:r>
            <a:r>
              <a:rPr lang="de-DE" dirty="0" err="1"/>
              <a:t>production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73B0EF-7C83-F48E-23E7-30F55569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91" y="1436197"/>
            <a:ext cx="9670618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Green alternative </a:t>
            </a:r>
            <a:r>
              <a:rPr lang="de-DE" dirty="0"/>
              <a:t>for </a:t>
            </a:r>
            <a:r>
              <a:rPr lang="de-DE" dirty="0" err="1"/>
              <a:t>methanol</a:t>
            </a:r>
            <a:r>
              <a:rPr lang="de-DE" dirty="0"/>
              <a:t> </a:t>
            </a:r>
            <a:r>
              <a:rPr lang="de-DE" dirty="0" err="1"/>
              <a:t>production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73B0EF-7C83-F48E-23E7-30F55569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0691" y="2040299"/>
            <a:ext cx="9670618" cy="277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Natural gas </a:t>
            </a:r>
            <a:r>
              <a:rPr lang="de-DE" dirty="0" err="1">
                <a:solidFill>
                  <a:srgbClr val="FF0000"/>
                </a:solidFill>
              </a:rPr>
              <a:t>prices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–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 in EUR/MWh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1F22D-74FB-E3B2-FBC8-33416DD5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662" y="1215215"/>
            <a:ext cx="6706529" cy="46498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AA915F-E932-2D88-154C-5E1C3922EF47}"/>
              </a:ext>
            </a:extLst>
          </p:cNvPr>
          <p:cNvSpPr txBox="1"/>
          <p:nvPr/>
        </p:nvSpPr>
        <p:spPr>
          <a:xfrm>
            <a:off x="8040873" y="1931934"/>
            <a:ext cx="38401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Currently, natural gas prices are </a:t>
            </a:r>
            <a:r>
              <a:rPr lang="en-US" dirty="0">
                <a:solidFill>
                  <a:srgbClr val="FF0000"/>
                </a:solidFill>
              </a:rPr>
              <a:t>five times </a:t>
            </a:r>
            <a:r>
              <a:rPr lang="en-US" dirty="0"/>
              <a:t>the average of 2021 (40 EUR/MWh).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reached a high price of </a:t>
            </a:r>
            <a:r>
              <a:rPr lang="en-US" dirty="0">
                <a:solidFill>
                  <a:srgbClr val="FF0000"/>
                </a:solidFill>
              </a:rPr>
              <a:t>345 EUR/MWh</a:t>
            </a:r>
            <a:r>
              <a:rPr lang="en-US" dirty="0"/>
              <a:t> in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Green routes v conventional routes.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202-9292-6162-125B-0FBE7B6E36C7}"/>
              </a:ext>
            </a:extLst>
          </p:cNvPr>
          <p:cNvSpPr txBox="1"/>
          <p:nvPr/>
        </p:nvSpPr>
        <p:spPr>
          <a:xfrm>
            <a:off x="3607837" y="2575276"/>
            <a:ext cx="3352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 NG, 1 EUR/MWh = 13.1 EUR/t</a:t>
            </a:r>
          </a:p>
        </p:txBody>
      </p:sp>
    </p:spTree>
    <p:extLst>
      <p:ext uri="{BB962C8B-B14F-4D97-AF65-F5344CB8AC3E}">
        <p14:creationId xmlns:p14="http://schemas.microsoft.com/office/powerpoint/2010/main" val="234390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4CF580-54E0-487C-C42A-87E3EEB1B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2" y="502172"/>
            <a:ext cx="10007621" cy="5575952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A407C15-4917-F62B-DCE4-449F34A0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2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4CF580-54E0-487C-C42A-87E3EEB1B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6592" y="515374"/>
            <a:ext cx="10007621" cy="5549548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A407C15-4917-F62B-DCE4-449F34A0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1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4CF580-54E0-487C-C42A-87E3EEB1B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628" y="502172"/>
            <a:ext cx="9755549" cy="5575952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A407C15-4917-F62B-DCE4-449F34A0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1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4CF580-54E0-487C-C42A-87E3EEB1B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628" y="707935"/>
            <a:ext cx="9755549" cy="5164426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A407C15-4917-F62B-DCE4-449F34A0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40942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presentation template</Template>
  <TotalTime>0</TotalTime>
  <Words>191</Words>
  <Application>Microsoft Office PowerPoint</Application>
  <PresentationFormat>Widescreen</PresentationFormat>
  <Paragraphs>48</Paragraphs>
  <Slides>11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Symbol</vt:lpstr>
      <vt:lpstr>ETH Zürich</vt:lpstr>
      <vt:lpstr>Natural gas v alternative routes for production of chemicals in 2022</vt:lpstr>
      <vt:lpstr>Ammonia and methanol are the most energy intensive chemicals</vt:lpstr>
      <vt:lpstr>SMR and WGS for the production of conventional hydrogen</vt:lpstr>
      <vt:lpstr>Haber Bosch process for the production of ammonia</vt:lpstr>
      <vt:lpstr>Conventional process for methanol production</vt:lpstr>
      <vt:lpstr>Green alternative for methanol production</vt:lpstr>
      <vt:lpstr>Natural gas prices – current scenario in EUR/MWh</vt:lpstr>
      <vt:lpstr>PowerPoint Presentation</vt:lpstr>
      <vt:lpstr>PowerPoint Presentation</vt:lpstr>
      <vt:lpstr>PowerPoint Presentation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Dioxide to Propanol – Weekly Update</dc:title>
  <dc:creator>Nabera  Abhinandan</dc:creator>
  <cp:lastModifiedBy>Nabera  Abhinandan</cp:lastModifiedBy>
  <cp:revision>337</cp:revision>
  <dcterms:created xsi:type="dcterms:W3CDTF">2022-07-06T08:30:06Z</dcterms:created>
  <dcterms:modified xsi:type="dcterms:W3CDTF">2022-10-06T09:25:33Z</dcterms:modified>
</cp:coreProperties>
</file>