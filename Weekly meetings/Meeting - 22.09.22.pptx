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88" r:id="rId3"/>
    <p:sldId id="261" r:id="rId4"/>
    <p:sldId id="315" r:id="rId5"/>
    <p:sldId id="316" r:id="rId6"/>
    <p:sldId id="317" r:id="rId7"/>
    <p:sldId id="318" r:id="rId8"/>
    <p:sldId id="319" r:id="rId9"/>
    <p:sldId id="321" r:id="rId10"/>
    <p:sldId id="320" r:id="rId11"/>
    <p:sldId id="322" r:id="rId12"/>
    <p:sldId id="323" r:id="rId13"/>
    <p:sldId id="324" r:id="rId14"/>
    <p:sldId id="325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  <a:srgbClr val="007A96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82" y="5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0" d="100"/>
          <a:sy n="80" d="100"/>
        </p:scale>
        <p:origin x="4176" y="4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8AF70A90-CA7E-49EB-AB17-C37FEDD075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A7711EA-1FBE-4E98-9D43-C2D65C45D0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8ABEA4-9216-4FDF-AAE1-D8632908A8EC}" type="datetimeFigureOut">
              <a:rPr lang="de-CH" smtClean="0"/>
              <a:t>21.09.2022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2CCD3C8-8930-4E0E-A891-B770724F2B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798FB5-86BC-42DA-9D05-F96D484814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85DCD-866D-47AE-A236-118539F53379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232272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A90D-FE7E-41AF-B03D-808D82937CB9}" type="datetimeFigureOut">
              <a:rPr lang="de-CH" smtClean="0"/>
              <a:t>21.09.2022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5DDFD-030C-4D5A-B33E-3A7E7538D2BE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4149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2772000"/>
          </a:xfrm>
          <a:solidFill>
            <a:schemeClr val="accent1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3C296D1-2CD0-479F-A866-6EC741D2293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41BE31-9613-4103-99FF-7DCFF643B3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DEB298C-798E-4D73-9DD6-F896C06530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4293381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  <p15:guide id="3" orient="horz" pos="640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pos="61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8A01615F-450E-43D0-B554-DA3FBD48DF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0" tIns="0" rIns="5580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4000" y="2957494"/>
            <a:ext cx="5688000" cy="2268000"/>
          </a:xfrm>
          <a:solidFill>
            <a:schemeClr val="accent6"/>
          </a:solidFill>
        </p:spPr>
        <p:txBody>
          <a:bodyPr lIns="324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Textplatzhalter 3">
            <a:extLst>
              <a:ext uri="{FF2B5EF4-FFF2-40B4-BE49-F238E27FC236}">
                <a16:creationId xmlns:a16="http://schemas.microsoft.com/office/drawing/2014/main" id="{003A487C-8977-4264-A8A1-D6C1DB6046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45210" y="4639666"/>
            <a:ext cx="4320000" cy="46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E91D3734-CD8F-4F94-A813-570EF31C473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547D2927-4A99-4714-8EBA-F773EAA263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100241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2D94F76-218E-49F2-87F8-05982912ED18}"/>
              </a:ext>
            </a:extLst>
          </p:cNvPr>
          <p:cNvSpPr/>
          <p:nvPr userDrawn="1"/>
        </p:nvSpPr>
        <p:spPr>
          <a:xfrm>
            <a:off x="731838" y="1016000"/>
            <a:ext cx="10728325" cy="5257800"/>
          </a:xfrm>
          <a:prstGeom prst="rect">
            <a:avLst/>
          </a:prstGeom>
          <a:solidFill>
            <a:srgbClr val="8E67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940405"/>
            <a:ext cx="10188000" cy="3420000"/>
          </a:xfrm>
          <a:solidFill>
            <a:schemeClr val="accent3"/>
          </a:solidFill>
          <a:ln>
            <a:noFill/>
          </a:ln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0503E57F-F89F-431B-8D38-7CC97B7C20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4217884"/>
            <a:ext cx="864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1BEB6197-C509-4752-B57E-CEE955F5D92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4ADF7DEC-21BD-45CA-9E91-B9F58A69F6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3924069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837" y="1016000"/>
            <a:ext cx="10728326" cy="5256000"/>
          </a:xfrm>
          <a:solidFill>
            <a:schemeClr val="accent6"/>
          </a:solidFill>
          <a:ln>
            <a:noFill/>
          </a:ln>
        </p:spPr>
        <p:txBody>
          <a:bodyPr lIns="324000" tIns="11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6" name="Textplatzhalter 3">
            <a:extLst>
              <a:ext uri="{FF2B5EF4-FFF2-40B4-BE49-F238E27FC236}">
                <a16:creationId xmlns:a16="http://schemas.microsoft.com/office/drawing/2014/main" id="{5FCAD79B-EF47-46A0-9575-229F3DAA72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5" y="5122625"/>
            <a:ext cx="10044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72236FC6-C8FF-43C1-86B9-BF112345926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789A3267-E086-4EC3-A0BB-F8ECD01A5C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732532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 – Uni Zür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2772000"/>
          </a:xfrm>
          <a:solidFill>
            <a:schemeClr val="accent2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93E2EDD-B19F-478D-BB03-AD55EC1E86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672" y="228020"/>
            <a:ext cx="3679200" cy="552508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D364BCB8-820F-4C3A-BA37-7048A4C8D4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A73913C2-8DFE-4F15-B2DB-2A6D5C2670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791A1AD7-DB7D-4C75-BEFB-EB6D34D3B2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2789257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39750" indent="-539750">
              <a:buFont typeface="+mj-lt"/>
              <a:buAutoNum type="arabicPeriod"/>
              <a:defRPr/>
            </a:lvl1pPr>
            <a:lvl2pPr marL="1079500" indent="-539750">
              <a:buFont typeface="+mj-lt"/>
              <a:buAutoNum type="arabicPeriod"/>
              <a:defRPr/>
            </a:lvl2pPr>
            <a:lvl3pPr marL="1612900" indent="-533400">
              <a:buFont typeface="+mj-lt"/>
              <a:buAutoNum type="arabicPeriod"/>
              <a:defRPr/>
            </a:lvl3pPr>
            <a:lvl4pPr marL="2152650" indent="-539750">
              <a:buFont typeface="+mj-lt"/>
              <a:buAutoNum type="arabicPeriod"/>
              <a:defRPr/>
            </a:lvl4pPr>
            <a:lvl5pPr marL="2692400" indent="-539750">
              <a:buFont typeface="+mj-lt"/>
              <a:buAutoNum type="arabicPeriod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21.09.2022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 dirty="0"/>
              <a:t>Organisationseinheit verbal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599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21.09.2022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 dirty="0"/>
              <a:t>Organisationseinheit verbal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753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Fuss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1E762-278A-4155-9BEB-7C2CB2386E92}" type="datetime1">
              <a:rPr lang="de-CH" noProof="0" smtClean="0"/>
              <a:t>21.09.2022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2F6D94FA-21C6-4AE0-AA4F-3A077810ED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836" y="5570135"/>
            <a:ext cx="5364164" cy="721233"/>
          </a:xfrm>
        </p:spPr>
        <p:txBody>
          <a:bodyPr anchor="b" anchorCtr="0"/>
          <a:lstStyle>
            <a:lvl1pPr marL="179388" indent="-179388">
              <a:spcBef>
                <a:spcPts val="0"/>
              </a:spcBef>
              <a:buFont typeface="+mj-lt"/>
              <a:buAutoNum type="arabicPeriod"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001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224781"/>
            <a:ext cx="10728325" cy="1260000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C4EAFE7-317E-4912-B75C-DD6945F82242}" type="datetime1">
              <a:rPr lang="de-CH" noProof="0" smtClean="0"/>
              <a:t>21.09.2022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  <p:grpSp>
        <p:nvGrpSpPr>
          <p:cNvPr id="10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GrpSpPr/>
          <p:nvPr/>
        </p:nvGrpSpPr>
        <p:grpSpPr>
          <a:xfrm>
            <a:off x="731837" y="6507088"/>
            <a:ext cx="984462" cy="162000"/>
            <a:chOff x="731837" y="6507088"/>
            <a:chExt cx="984462" cy="162000"/>
          </a:xfrm>
          <a:solidFill>
            <a:schemeClr val="bg1"/>
          </a:solidFill>
        </p:grpSpPr>
        <p:grpSp>
          <p:nvGrpSpPr>
            <p:cNvPr id="12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266489" y="6555186"/>
              <a:ext cx="197463" cy="110963"/>
              <a:chOff x="1266489" y="6555186"/>
              <a:chExt cx="197463" cy="110963"/>
            </a:xfrm>
            <a:grpFill/>
          </p:grpSpPr>
          <p:sp>
            <p:nvSpPr>
              <p:cNvPr id="13" name="Freihandform: Form 12">
                <a:extLst>
                  <a:ext uri="{FF2B5EF4-FFF2-40B4-BE49-F238E27FC236}">
                    <a16:creationId xmlns:a16="http://schemas.microsoft.com/office/drawing/2014/main" id="{18BB0752-F87C-44D9-A9A5-97AF1DEDA1AE}"/>
                  </a:ext>
                </a:extLst>
              </p:cNvPr>
              <p:cNvSpPr/>
              <p:nvPr/>
            </p:nvSpPr>
            <p:spPr>
              <a:xfrm>
                <a:off x="1266489" y="6556934"/>
                <a:ext cx="95902" cy="109216"/>
              </a:xfrm>
              <a:custGeom>
                <a:avLst/>
                <a:gdLst>
                  <a:gd name="connsiteX0" fmla="*/ 66742 w 95902"/>
                  <a:gd name="connsiteY0" fmla="*/ 65797 h 109216"/>
                  <a:gd name="connsiteX1" fmla="*/ 35339 w 95902"/>
                  <a:gd name="connsiteY1" fmla="*/ 95082 h 109216"/>
                  <a:gd name="connsiteX2" fmla="*/ 15953 w 95902"/>
                  <a:gd name="connsiteY2" fmla="*/ 79537 h 109216"/>
                  <a:gd name="connsiteX3" fmla="*/ 15899 w 95902"/>
                  <a:gd name="connsiteY3" fmla="*/ 76265 h 109216"/>
                  <a:gd name="connsiteX4" fmla="*/ 16896 w 95902"/>
                  <a:gd name="connsiteY4" fmla="*/ 66295 h 109216"/>
                  <a:gd name="connsiteX5" fmla="*/ 30230 w 95902"/>
                  <a:gd name="connsiteY5" fmla="*/ 0 h 109216"/>
                  <a:gd name="connsiteX6" fmla="*/ 30230 w 95902"/>
                  <a:gd name="connsiteY6" fmla="*/ 0 h 109216"/>
                  <a:gd name="connsiteX7" fmla="*/ 14528 w 95902"/>
                  <a:gd name="connsiteY7" fmla="*/ 0 h 109216"/>
                  <a:gd name="connsiteX8" fmla="*/ 1194 w 95902"/>
                  <a:gd name="connsiteY8" fmla="*/ 67791 h 109216"/>
                  <a:gd name="connsiteX9" fmla="*/ 1194 w 95902"/>
                  <a:gd name="connsiteY9" fmla="*/ 68788 h 109216"/>
                  <a:gd name="connsiteX10" fmla="*/ 73 w 95902"/>
                  <a:gd name="connsiteY10" fmla="*/ 78508 h 109216"/>
                  <a:gd name="connsiteX11" fmla="*/ 26638 w 95902"/>
                  <a:gd name="connsiteY11" fmla="*/ 109122 h 109216"/>
                  <a:gd name="connsiteX12" fmla="*/ 29980 w 95902"/>
                  <a:gd name="connsiteY12" fmla="*/ 109163 h 109216"/>
                  <a:gd name="connsiteX13" fmla="*/ 61384 w 95902"/>
                  <a:gd name="connsiteY13" fmla="*/ 96702 h 109216"/>
                  <a:gd name="connsiteX14" fmla="*/ 59265 w 95902"/>
                  <a:gd name="connsiteY14" fmla="*/ 107917 h 109216"/>
                  <a:gd name="connsiteX15" fmla="*/ 59265 w 95902"/>
                  <a:gd name="connsiteY15" fmla="*/ 107917 h 109216"/>
                  <a:gd name="connsiteX16" fmla="*/ 74842 w 95902"/>
                  <a:gd name="connsiteY16" fmla="*/ 107917 h 109216"/>
                  <a:gd name="connsiteX17" fmla="*/ 95902 w 95902"/>
                  <a:gd name="connsiteY17" fmla="*/ 0 h 109216"/>
                  <a:gd name="connsiteX18" fmla="*/ 95902 w 95902"/>
                  <a:gd name="connsiteY18" fmla="*/ 0 h 109216"/>
                  <a:gd name="connsiteX19" fmla="*/ 79951 w 95902"/>
                  <a:gd name="connsiteY19" fmla="*/ 0 h 109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5902" h="109216">
                    <a:moveTo>
                      <a:pt x="66742" y="65797"/>
                    </a:moveTo>
                    <a:cubicBezTo>
                      <a:pt x="65228" y="82115"/>
                      <a:pt x="51723" y="94709"/>
                      <a:pt x="35339" y="95082"/>
                    </a:cubicBezTo>
                    <a:cubicBezTo>
                      <a:pt x="25692" y="96142"/>
                      <a:pt x="17013" y="89183"/>
                      <a:pt x="15953" y="79537"/>
                    </a:cubicBezTo>
                    <a:cubicBezTo>
                      <a:pt x="15833" y="78450"/>
                      <a:pt x="15814" y="77355"/>
                      <a:pt x="15899" y="76265"/>
                    </a:cubicBezTo>
                    <a:cubicBezTo>
                      <a:pt x="15976" y="72921"/>
                      <a:pt x="16309" y="69588"/>
                      <a:pt x="16896" y="66295"/>
                    </a:cubicBezTo>
                    <a:lnTo>
                      <a:pt x="30230" y="0"/>
                    </a:lnTo>
                    <a:lnTo>
                      <a:pt x="30230" y="0"/>
                    </a:lnTo>
                    <a:lnTo>
                      <a:pt x="14528" y="0"/>
                    </a:lnTo>
                    <a:lnTo>
                      <a:pt x="1194" y="67791"/>
                    </a:lnTo>
                    <a:lnTo>
                      <a:pt x="1194" y="68788"/>
                    </a:lnTo>
                    <a:cubicBezTo>
                      <a:pt x="472" y="71978"/>
                      <a:pt x="95" y="75237"/>
                      <a:pt x="73" y="78508"/>
                    </a:cubicBezTo>
                    <a:cubicBezTo>
                      <a:pt x="-1045" y="94298"/>
                      <a:pt x="10848" y="108004"/>
                      <a:pt x="26638" y="109122"/>
                    </a:cubicBezTo>
                    <a:cubicBezTo>
                      <a:pt x="27751" y="109200"/>
                      <a:pt x="28866" y="109214"/>
                      <a:pt x="29980" y="109163"/>
                    </a:cubicBezTo>
                    <a:cubicBezTo>
                      <a:pt x="41760" y="109765"/>
                      <a:pt x="53221" y="105218"/>
                      <a:pt x="61384" y="96702"/>
                    </a:cubicBezTo>
                    <a:lnTo>
                      <a:pt x="59265" y="107917"/>
                    </a:lnTo>
                    <a:lnTo>
                      <a:pt x="59265" y="107917"/>
                    </a:lnTo>
                    <a:lnTo>
                      <a:pt x="74842" y="107917"/>
                    </a:lnTo>
                    <a:lnTo>
                      <a:pt x="95902" y="0"/>
                    </a:lnTo>
                    <a:lnTo>
                      <a:pt x="95902" y="0"/>
                    </a:lnTo>
                    <a:lnTo>
                      <a:pt x="79951" y="0"/>
                    </a:lnTo>
                    <a:close/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4" name="Freihandform: Form 13">
                <a:extLst>
                  <a:ext uri="{FF2B5EF4-FFF2-40B4-BE49-F238E27FC236}">
                    <a16:creationId xmlns:a16="http://schemas.microsoft.com/office/drawing/2014/main" id="{ED44DE23-7081-4AC9-BF06-502BEC71C004}"/>
                  </a:ext>
                </a:extLst>
              </p:cNvPr>
              <p:cNvSpPr/>
              <p:nvPr/>
            </p:nvSpPr>
            <p:spPr>
              <a:xfrm>
                <a:off x="1376472" y="6555186"/>
                <a:ext cx="87480" cy="109664"/>
              </a:xfrm>
              <a:custGeom>
                <a:avLst/>
                <a:gdLst>
                  <a:gd name="connsiteX0" fmla="*/ 64302 w 87480"/>
                  <a:gd name="connsiteY0" fmla="*/ 3 h 109664"/>
                  <a:gd name="connsiteX1" fmla="*/ 34518 w 87480"/>
                  <a:gd name="connsiteY1" fmla="*/ 14209 h 109664"/>
                  <a:gd name="connsiteX2" fmla="*/ 36886 w 87480"/>
                  <a:gd name="connsiteY2" fmla="*/ 1747 h 109664"/>
                  <a:gd name="connsiteX3" fmla="*/ 36886 w 87480"/>
                  <a:gd name="connsiteY3" fmla="*/ 1747 h 109664"/>
                  <a:gd name="connsiteX4" fmla="*/ 21434 w 87480"/>
                  <a:gd name="connsiteY4" fmla="*/ 1747 h 109664"/>
                  <a:gd name="connsiteX5" fmla="*/ 0 w 87480"/>
                  <a:gd name="connsiteY5" fmla="*/ 109664 h 109664"/>
                  <a:gd name="connsiteX6" fmla="*/ 0 w 87480"/>
                  <a:gd name="connsiteY6" fmla="*/ 109664 h 109664"/>
                  <a:gd name="connsiteX7" fmla="*/ 15826 w 87480"/>
                  <a:gd name="connsiteY7" fmla="*/ 109664 h 109664"/>
                  <a:gd name="connsiteX8" fmla="*/ 28288 w 87480"/>
                  <a:gd name="connsiteY8" fmla="*/ 43493 h 109664"/>
                  <a:gd name="connsiteX9" fmla="*/ 59940 w 87480"/>
                  <a:gd name="connsiteY9" fmla="*/ 14209 h 109664"/>
                  <a:gd name="connsiteX10" fmla="*/ 75019 w 87480"/>
                  <a:gd name="connsiteY10" fmla="*/ 21810 h 109664"/>
                  <a:gd name="connsiteX11" fmla="*/ 75019 w 87480"/>
                  <a:gd name="connsiteY11" fmla="*/ 21810 h 109664"/>
                  <a:gd name="connsiteX12" fmla="*/ 87480 w 87480"/>
                  <a:gd name="connsiteY12" fmla="*/ 10346 h 109664"/>
                  <a:gd name="connsiteX13" fmla="*/ 87480 w 87480"/>
                  <a:gd name="connsiteY13" fmla="*/ 10346 h 109664"/>
                  <a:gd name="connsiteX14" fmla="*/ 63928 w 87480"/>
                  <a:gd name="connsiteY14" fmla="*/ 252 h 10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7480" h="109664">
                    <a:moveTo>
                      <a:pt x="64302" y="3"/>
                    </a:moveTo>
                    <a:cubicBezTo>
                      <a:pt x="52709" y="-136"/>
                      <a:pt x="41706" y="5111"/>
                      <a:pt x="34518" y="14209"/>
                    </a:cubicBezTo>
                    <a:lnTo>
                      <a:pt x="36886" y="1747"/>
                    </a:lnTo>
                    <a:lnTo>
                      <a:pt x="36886" y="1747"/>
                    </a:lnTo>
                    <a:lnTo>
                      <a:pt x="21434" y="1747"/>
                    </a:lnTo>
                    <a:lnTo>
                      <a:pt x="0" y="109664"/>
                    </a:lnTo>
                    <a:lnTo>
                      <a:pt x="0" y="109664"/>
                    </a:lnTo>
                    <a:lnTo>
                      <a:pt x="15826" y="109664"/>
                    </a:lnTo>
                    <a:lnTo>
                      <a:pt x="28288" y="43493"/>
                    </a:lnTo>
                    <a:cubicBezTo>
                      <a:pt x="30515" y="27438"/>
                      <a:pt x="43760" y="15183"/>
                      <a:pt x="59940" y="14209"/>
                    </a:cubicBezTo>
                    <a:cubicBezTo>
                      <a:pt x="65919" y="14072"/>
                      <a:pt x="71573" y="16922"/>
                      <a:pt x="75019" y="21810"/>
                    </a:cubicBezTo>
                    <a:lnTo>
                      <a:pt x="75019" y="21810"/>
                    </a:lnTo>
                    <a:lnTo>
                      <a:pt x="87480" y="10346"/>
                    </a:lnTo>
                    <a:lnTo>
                      <a:pt x="87480" y="10346"/>
                    </a:lnTo>
                    <a:cubicBezTo>
                      <a:pt x="81552" y="3603"/>
                      <a:pt x="72899" y="-105"/>
                      <a:pt x="63928" y="2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18C24FD2-AEE2-43CA-8EB3-8E646C2E5E46}"/>
                </a:ext>
              </a:extLst>
            </p:cNvPr>
            <p:cNvSpPr/>
            <p:nvPr/>
          </p:nvSpPr>
          <p:spPr>
            <a:xfrm>
              <a:off x="1159517" y="6556560"/>
              <a:ext cx="96452" cy="108166"/>
            </a:xfrm>
            <a:custGeom>
              <a:avLst/>
              <a:gdLst>
                <a:gd name="connsiteX0" fmla="*/ 23303 w 96452"/>
                <a:gd name="connsiteY0" fmla="*/ 0 h 108166"/>
                <a:gd name="connsiteX1" fmla="*/ 20562 w 96452"/>
                <a:gd name="connsiteY1" fmla="*/ 13708 h 108166"/>
                <a:gd name="connsiteX2" fmla="*/ 20562 w 96452"/>
                <a:gd name="connsiteY2" fmla="*/ 13957 h 108166"/>
                <a:gd name="connsiteX3" fmla="*/ 74271 w 96452"/>
                <a:gd name="connsiteY3" fmla="*/ 13957 h 108166"/>
                <a:gd name="connsiteX4" fmla="*/ 2742 w 96452"/>
                <a:gd name="connsiteY4" fmla="*/ 94957 h 108166"/>
                <a:gd name="connsiteX5" fmla="*/ 2617 w 96452"/>
                <a:gd name="connsiteY5" fmla="*/ 94957 h 108166"/>
                <a:gd name="connsiteX6" fmla="*/ 0 w 96452"/>
                <a:gd name="connsiteY6" fmla="*/ 108166 h 108166"/>
                <a:gd name="connsiteX7" fmla="*/ 76265 w 96452"/>
                <a:gd name="connsiteY7" fmla="*/ 108166 h 108166"/>
                <a:gd name="connsiteX8" fmla="*/ 79006 w 96452"/>
                <a:gd name="connsiteY8" fmla="*/ 94209 h 108166"/>
                <a:gd name="connsiteX9" fmla="*/ 21932 w 96452"/>
                <a:gd name="connsiteY9" fmla="*/ 94209 h 108166"/>
                <a:gd name="connsiteX10" fmla="*/ 93835 w 96452"/>
                <a:gd name="connsiteY10" fmla="*/ 13209 h 108166"/>
                <a:gd name="connsiteX11" fmla="*/ 93835 w 96452"/>
                <a:gd name="connsiteY11" fmla="*/ 13209 h 108166"/>
                <a:gd name="connsiteX12" fmla="*/ 96452 w 96452"/>
                <a:gd name="connsiteY12" fmla="*/ 0 h 108166"/>
                <a:gd name="connsiteX13" fmla="*/ 23303 w 96452"/>
                <a:gd name="connsiteY13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6452" h="108166">
                  <a:moveTo>
                    <a:pt x="23303" y="0"/>
                  </a:moveTo>
                  <a:lnTo>
                    <a:pt x="20562" y="13708"/>
                  </a:lnTo>
                  <a:lnTo>
                    <a:pt x="20562" y="13957"/>
                  </a:lnTo>
                  <a:lnTo>
                    <a:pt x="74271" y="13957"/>
                  </a:lnTo>
                  <a:lnTo>
                    <a:pt x="2742" y="94957"/>
                  </a:lnTo>
                  <a:lnTo>
                    <a:pt x="2617" y="94957"/>
                  </a:lnTo>
                  <a:lnTo>
                    <a:pt x="0" y="108166"/>
                  </a:lnTo>
                  <a:lnTo>
                    <a:pt x="76265" y="108166"/>
                  </a:lnTo>
                  <a:lnTo>
                    <a:pt x="79006" y="94209"/>
                  </a:lnTo>
                  <a:lnTo>
                    <a:pt x="21932" y="94209"/>
                  </a:lnTo>
                  <a:lnTo>
                    <a:pt x="93835" y="13209"/>
                  </a:lnTo>
                  <a:lnTo>
                    <a:pt x="93835" y="13209"/>
                  </a:lnTo>
                  <a:lnTo>
                    <a:pt x="96452" y="0"/>
                  </a:lnTo>
                  <a:lnTo>
                    <a:pt x="2330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AEE7F6F4-4D2C-45B3-A061-9606B2BD36A7}"/>
                </a:ext>
              </a:extLst>
            </p:cNvPr>
            <p:cNvSpPr/>
            <p:nvPr/>
          </p:nvSpPr>
          <p:spPr>
            <a:xfrm>
              <a:off x="1466445" y="6556560"/>
              <a:ext cx="37259" cy="108166"/>
            </a:xfrm>
            <a:custGeom>
              <a:avLst/>
              <a:gdLst>
                <a:gd name="connsiteX0" fmla="*/ 21683 w 37259"/>
                <a:gd name="connsiteY0" fmla="*/ 0 h 108166"/>
                <a:gd name="connsiteX1" fmla="*/ 0 w 37259"/>
                <a:gd name="connsiteY1" fmla="*/ 107917 h 108166"/>
                <a:gd name="connsiteX2" fmla="*/ 0 w 37259"/>
                <a:gd name="connsiteY2" fmla="*/ 108166 h 108166"/>
                <a:gd name="connsiteX3" fmla="*/ 15702 w 37259"/>
                <a:gd name="connsiteY3" fmla="*/ 108166 h 108166"/>
                <a:gd name="connsiteX4" fmla="*/ 37260 w 37259"/>
                <a:gd name="connsiteY4" fmla="*/ 0 h 108166"/>
                <a:gd name="connsiteX5" fmla="*/ 21683 w 37259"/>
                <a:gd name="connsiteY5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259" h="108166">
                  <a:moveTo>
                    <a:pt x="21683" y="0"/>
                  </a:moveTo>
                  <a:lnTo>
                    <a:pt x="0" y="107917"/>
                  </a:lnTo>
                  <a:lnTo>
                    <a:pt x="0" y="108166"/>
                  </a:lnTo>
                  <a:lnTo>
                    <a:pt x="15702" y="108166"/>
                  </a:lnTo>
                  <a:lnTo>
                    <a:pt x="37260" y="0"/>
                  </a:lnTo>
                  <a:lnTo>
                    <a:pt x="2168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grpSp>
          <p:nvGrpSpPr>
            <p:cNvPr id="17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518879" y="6507337"/>
              <a:ext cx="191395" cy="158803"/>
              <a:chOff x="1518879" y="6507337"/>
              <a:chExt cx="191395" cy="158803"/>
            </a:xfrm>
            <a:grpFill/>
          </p:grpSpPr>
          <p:sp>
            <p:nvSpPr>
              <p:cNvPr id="18" name="Freihandform: Form 17">
                <a:extLst>
                  <a:ext uri="{FF2B5EF4-FFF2-40B4-BE49-F238E27FC236}">
                    <a16:creationId xmlns:a16="http://schemas.microsoft.com/office/drawing/2014/main" id="{B2186F78-5D28-4695-8B1C-5A3F1A53AAB3}"/>
                  </a:ext>
                </a:extLst>
              </p:cNvPr>
              <p:cNvSpPr/>
              <p:nvPr/>
            </p:nvSpPr>
            <p:spPr>
              <a:xfrm>
                <a:off x="1614114" y="6507337"/>
                <a:ext cx="96160" cy="157638"/>
              </a:xfrm>
              <a:custGeom>
                <a:avLst/>
                <a:gdLst>
                  <a:gd name="connsiteX0" fmla="*/ 66046 w 96160"/>
                  <a:gd name="connsiteY0" fmla="*/ 47852 h 157638"/>
                  <a:gd name="connsiteX1" fmla="*/ 35142 w 96160"/>
                  <a:gd name="connsiteY1" fmla="*/ 60314 h 157638"/>
                  <a:gd name="connsiteX2" fmla="*/ 47603 w 96160"/>
                  <a:gd name="connsiteY2" fmla="*/ 0 h 157638"/>
                  <a:gd name="connsiteX3" fmla="*/ 31652 w 96160"/>
                  <a:gd name="connsiteY3" fmla="*/ 0 h 157638"/>
                  <a:gd name="connsiteX4" fmla="*/ 0 w 96160"/>
                  <a:gd name="connsiteY4" fmla="*/ 157389 h 157638"/>
                  <a:gd name="connsiteX5" fmla="*/ 15701 w 96160"/>
                  <a:gd name="connsiteY5" fmla="*/ 157389 h 157638"/>
                  <a:gd name="connsiteX6" fmla="*/ 28911 w 96160"/>
                  <a:gd name="connsiteY6" fmla="*/ 91218 h 157638"/>
                  <a:gd name="connsiteX7" fmla="*/ 60563 w 96160"/>
                  <a:gd name="connsiteY7" fmla="*/ 62058 h 157638"/>
                  <a:gd name="connsiteX8" fmla="*/ 79837 w 96160"/>
                  <a:gd name="connsiteY8" fmla="*/ 77742 h 157638"/>
                  <a:gd name="connsiteX9" fmla="*/ 79878 w 96160"/>
                  <a:gd name="connsiteY9" fmla="*/ 80875 h 157638"/>
                  <a:gd name="connsiteX10" fmla="*/ 78757 w 96160"/>
                  <a:gd name="connsiteY10" fmla="*/ 90969 h 157638"/>
                  <a:gd name="connsiteX11" fmla="*/ 65423 w 96160"/>
                  <a:gd name="connsiteY11" fmla="*/ 157638 h 157638"/>
                  <a:gd name="connsiteX12" fmla="*/ 81125 w 96160"/>
                  <a:gd name="connsiteY12" fmla="*/ 157638 h 157638"/>
                  <a:gd name="connsiteX13" fmla="*/ 94957 w 96160"/>
                  <a:gd name="connsiteY13" fmla="*/ 89474 h 157638"/>
                  <a:gd name="connsiteX14" fmla="*/ 96078 w 96160"/>
                  <a:gd name="connsiteY14" fmla="*/ 78757 h 157638"/>
                  <a:gd name="connsiteX15" fmla="*/ 69522 w 96160"/>
                  <a:gd name="connsiteY15" fmla="*/ 47902 h 157638"/>
                  <a:gd name="connsiteX16" fmla="*/ 66046 w 96160"/>
                  <a:gd name="connsiteY16" fmla="*/ 47852 h 157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6160" h="157638">
                    <a:moveTo>
                      <a:pt x="66046" y="47852"/>
                    </a:moveTo>
                    <a:cubicBezTo>
                      <a:pt x="54431" y="47363"/>
                      <a:pt x="43168" y="51904"/>
                      <a:pt x="35142" y="60314"/>
                    </a:cubicBezTo>
                    <a:lnTo>
                      <a:pt x="47603" y="0"/>
                    </a:lnTo>
                    <a:lnTo>
                      <a:pt x="31652" y="0"/>
                    </a:lnTo>
                    <a:lnTo>
                      <a:pt x="0" y="157389"/>
                    </a:lnTo>
                    <a:lnTo>
                      <a:pt x="15701" y="157389"/>
                    </a:lnTo>
                    <a:lnTo>
                      <a:pt x="28911" y="91218"/>
                    </a:lnTo>
                    <a:cubicBezTo>
                      <a:pt x="30603" y="74910"/>
                      <a:pt x="44170" y="62411"/>
                      <a:pt x="60563" y="62058"/>
                    </a:cubicBezTo>
                    <a:cubicBezTo>
                      <a:pt x="70216" y="61067"/>
                      <a:pt x="78845" y="68088"/>
                      <a:pt x="79837" y="77742"/>
                    </a:cubicBezTo>
                    <a:cubicBezTo>
                      <a:pt x="79945" y="78783"/>
                      <a:pt x="79958" y="79832"/>
                      <a:pt x="79878" y="80875"/>
                    </a:cubicBezTo>
                    <a:cubicBezTo>
                      <a:pt x="79822" y="84268"/>
                      <a:pt x="79446" y="87647"/>
                      <a:pt x="78757" y="90969"/>
                    </a:cubicBezTo>
                    <a:lnTo>
                      <a:pt x="65423" y="157638"/>
                    </a:lnTo>
                    <a:lnTo>
                      <a:pt x="81125" y="157638"/>
                    </a:lnTo>
                    <a:lnTo>
                      <a:pt x="94957" y="89474"/>
                    </a:lnTo>
                    <a:cubicBezTo>
                      <a:pt x="95657" y="85943"/>
                      <a:pt x="96034" y="82356"/>
                      <a:pt x="96078" y="78757"/>
                    </a:cubicBezTo>
                    <a:cubicBezTo>
                      <a:pt x="97265" y="62903"/>
                      <a:pt x="85375" y="49089"/>
                      <a:pt x="69522" y="47902"/>
                    </a:cubicBezTo>
                    <a:cubicBezTo>
                      <a:pt x="68365" y="47815"/>
                      <a:pt x="67205" y="47799"/>
                      <a:pt x="66046" y="478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9" name="Freihandform: Form 18">
                <a:extLst>
                  <a:ext uri="{FF2B5EF4-FFF2-40B4-BE49-F238E27FC236}">
                    <a16:creationId xmlns:a16="http://schemas.microsoft.com/office/drawing/2014/main" id="{1FE5475E-83C3-4BE3-BBF1-FAE9A6986B3F}"/>
                  </a:ext>
                </a:extLst>
              </p:cNvPr>
              <p:cNvSpPr/>
              <p:nvPr/>
            </p:nvSpPr>
            <p:spPr>
              <a:xfrm>
                <a:off x="1518879" y="6555189"/>
                <a:ext cx="87882" cy="110951"/>
              </a:xfrm>
              <a:custGeom>
                <a:avLst/>
                <a:gdLst>
                  <a:gd name="connsiteX0" fmla="*/ 56853 w 87882"/>
                  <a:gd name="connsiteY0" fmla="*/ 0 h 110951"/>
                  <a:gd name="connsiteX1" fmla="*/ 1649 w 87882"/>
                  <a:gd name="connsiteY1" fmla="*/ 55329 h 110951"/>
                  <a:gd name="connsiteX2" fmla="*/ 153 w 87882"/>
                  <a:gd name="connsiteY2" fmla="*/ 71903 h 110951"/>
                  <a:gd name="connsiteX3" fmla="*/ 32484 w 87882"/>
                  <a:gd name="connsiteY3" fmla="*/ 110801 h 110951"/>
                  <a:gd name="connsiteX4" fmla="*/ 37538 w 87882"/>
                  <a:gd name="connsiteY4" fmla="*/ 110908 h 110951"/>
                  <a:gd name="connsiteX5" fmla="*/ 73552 w 87882"/>
                  <a:gd name="connsiteY5" fmla="*/ 95705 h 110951"/>
                  <a:gd name="connsiteX6" fmla="*/ 73552 w 87882"/>
                  <a:gd name="connsiteY6" fmla="*/ 95705 h 110951"/>
                  <a:gd name="connsiteX7" fmla="*/ 64455 w 87882"/>
                  <a:gd name="connsiteY7" fmla="*/ 84614 h 110951"/>
                  <a:gd name="connsiteX8" fmla="*/ 64455 w 87882"/>
                  <a:gd name="connsiteY8" fmla="*/ 84614 h 110951"/>
                  <a:gd name="connsiteX9" fmla="*/ 64455 w 87882"/>
                  <a:gd name="connsiteY9" fmla="*/ 84614 h 110951"/>
                  <a:gd name="connsiteX10" fmla="*/ 38535 w 87882"/>
                  <a:gd name="connsiteY10" fmla="*/ 97075 h 110951"/>
                  <a:gd name="connsiteX11" fmla="*/ 15233 w 87882"/>
                  <a:gd name="connsiteY11" fmla="*/ 75551 h 110951"/>
                  <a:gd name="connsiteX12" fmla="*/ 15356 w 87882"/>
                  <a:gd name="connsiteY12" fmla="*/ 72152 h 110951"/>
                  <a:gd name="connsiteX13" fmla="*/ 17101 w 87882"/>
                  <a:gd name="connsiteY13" fmla="*/ 55952 h 110951"/>
                  <a:gd name="connsiteX14" fmla="*/ 31058 w 87882"/>
                  <a:gd name="connsiteY14" fmla="*/ 25048 h 110951"/>
                  <a:gd name="connsiteX15" fmla="*/ 55233 w 87882"/>
                  <a:gd name="connsiteY15" fmla="*/ 14206 h 110951"/>
                  <a:gd name="connsiteX16" fmla="*/ 76293 w 87882"/>
                  <a:gd name="connsiteY16" fmla="*/ 26668 h 110951"/>
                  <a:gd name="connsiteX17" fmla="*/ 76293 w 87882"/>
                  <a:gd name="connsiteY17" fmla="*/ 26668 h 110951"/>
                  <a:gd name="connsiteX18" fmla="*/ 87883 w 87882"/>
                  <a:gd name="connsiteY18" fmla="*/ 16823 h 110951"/>
                  <a:gd name="connsiteX19" fmla="*/ 87883 w 87882"/>
                  <a:gd name="connsiteY19" fmla="*/ 16823 h 110951"/>
                  <a:gd name="connsiteX20" fmla="*/ 56729 w 87882"/>
                  <a:gd name="connsiteY20" fmla="*/ 748 h 110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7882" h="110951">
                    <a:moveTo>
                      <a:pt x="56853" y="0"/>
                    </a:moveTo>
                    <a:cubicBezTo>
                      <a:pt x="28192" y="0"/>
                      <a:pt x="8129" y="20188"/>
                      <a:pt x="1649" y="55329"/>
                    </a:cubicBezTo>
                    <a:cubicBezTo>
                      <a:pt x="671" y="60800"/>
                      <a:pt x="170" y="66345"/>
                      <a:pt x="153" y="71903"/>
                    </a:cubicBezTo>
                    <a:cubicBezTo>
                      <a:pt x="-1660" y="91572"/>
                      <a:pt x="12814" y="108987"/>
                      <a:pt x="32484" y="110801"/>
                    </a:cubicBezTo>
                    <a:cubicBezTo>
                      <a:pt x="34163" y="110955"/>
                      <a:pt x="35853" y="110991"/>
                      <a:pt x="37538" y="110908"/>
                    </a:cubicBezTo>
                    <a:cubicBezTo>
                      <a:pt x="51112" y="110955"/>
                      <a:pt x="64118" y="105465"/>
                      <a:pt x="73552" y="95705"/>
                    </a:cubicBezTo>
                    <a:lnTo>
                      <a:pt x="73552" y="95705"/>
                    </a:lnTo>
                    <a:lnTo>
                      <a:pt x="64455" y="84614"/>
                    </a:lnTo>
                    <a:lnTo>
                      <a:pt x="64455" y="84614"/>
                    </a:lnTo>
                    <a:lnTo>
                      <a:pt x="64455" y="84614"/>
                    </a:lnTo>
                    <a:cubicBezTo>
                      <a:pt x="58138" y="92466"/>
                      <a:pt x="48613" y="97045"/>
                      <a:pt x="38535" y="97075"/>
                    </a:cubicBezTo>
                    <a:cubicBezTo>
                      <a:pt x="26157" y="97566"/>
                      <a:pt x="15724" y="87929"/>
                      <a:pt x="15233" y="75551"/>
                    </a:cubicBezTo>
                    <a:cubicBezTo>
                      <a:pt x="15188" y="74416"/>
                      <a:pt x="15229" y="73280"/>
                      <a:pt x="15356" y="72152"/>
                    </a:cubicBezTo>
                    <a:cubicBezTo>
                      <a:pt x="15424" y="66709"/>
                      <a:pt x="16008" y="61285"/>
                      <a:pt x="17101" y="55952"/>
                    </a:cubicBezTo>
                    <a:cubicBezTo>
                      <a:pt x="18838" y="44568"/>
                      <a:pt x="23666" y="33878"/>
                      <a:pt x="31058" y="25048"/>
                    </a:cubicBezTo>
                    <a:cubicBezTo>
                      <a:pt x="37213" y="18167"/>
                      <a:pt x="46002" y="14225"/>
                      <a:pt x="55233" y="14206"/>
                    </a:cubicBezTo>
                    <a:cubicBezTo>
                      <a:pt x="64085" y="13892"/>
                      <a:pt x="72308" y="18758"/>
                      <a:pt x="76293" y="26668"/>
                    </a:cubicBezTo>
                    <a:lnTo>
                      <a:pt x="76293" y="26668"/>
                    </a:lnTo>
                    <a:lnTo>
                      <a:pt x="87883" y="16823"/>
                    </a:lnTo>
                    <a:lnTo>
                      <a:pt x="87883" y="16823"/>
                    </a:lnTo>
                    <a:cubicBezTo>
                      <a:pt x="81104" y="6298"/>
                      <a:pt x="69235" y="174"/>
                      <a:pt x="56729" y="748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41B77B6E-E7CB-412B-95AC-A9322C6799BB}"/>
                </a:ext>
              </a:extLst>
            </p:cNvPr>
            <p:cNvSpPr/>
            <p:nvPr/>
          </p:nvSpPr>
          <p:spPr>
            <a:xfrm>
              <a:off x="1493985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832E5C1A-13CE-49A6-B590-B6EAA5F9E1AD}"/>
                </a:ext>
              </a:extLst>
            </p:cNvPr>
            <p:cNvSpPr/>
            <p:nvPr/>
          </p:nvSpPr>
          <p:spPr>
            <a:xfrm>
              <a:off x="1340708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63AE00B0-780F-4053-8FE9-B7D321217AFF}"/>
                </a:ext>
              </a:extLst>
            </p:cNvPr>
            <p:cNvSpPr/>
            <p:nvPr/>
          </p:nvSpPr>
          <p:spPr>
            <a:xfrm>
              <a:off x="1298712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702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702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2406CEAF-7399-4CCB-A322-03F0BA2532F5}"/>
                </a:ext>
              </a:extLst>
            </p:cNvPr>
            <p:cNvSpPr/>
            <p:nvPr/>
          </p:nvSpPr>
          <p:spPr>
            <a:xfrm>
              <a:off x="731837" y="6507088"/>
              <a:ext cx="417960" cy="157638"/>
            </a:xfrm>
            <a:custGeom>
              <a:avLst/>
              <a:gdLst>
                <a:gd name="connsiteX0" fmla="*/ 368612 w 417960"/>
                <a:gd name="connsiteY0" fmla="*/ 0 h 157638"/>
                <a:gd name="connsiteX1" fmla="*/ 356151 w 417960"/>
                <a:gd name="connsiteY1" fmla="*/ 61062 h 157638"/>
                <a:gd name="connsiteX2" fmla="*/ 320760 w 417960"/>
                <a:gd name="connsiteY2" fmla="*/ 61062 h 157638"/>
                <a:gd name="connsiteX3" fmla="*/ 333222 w 417960"/>
                <a:gd name="connsiteY3" fmla="*/ 0 h 157638"/>
                <a:gd name="connsiteX4" fmla="*/ 31652 w 417960"/>
                <a:gd name="connsiteY4" fmla="*/ 0 h 157638"/>
                <a:gd name="connsiteX5" fmla="*/ 0 w 417960"/>
                <a:gd name="connsiteY5" fmla="*/ 157638 h 157638"/>
                <a:gd name="connsiteX6" fmla="*/ 120254 w 417960"/>
                <a:gd name="connsiteY6" fmla="*/ 157638 h 157638"/>
                <a:gd name="connsiteX7" fmla="*/ 128105 w 417960"/>
                <a:gd name="connsiteY7" fmla="*/ 118260 h 157638"/>
                <a:gd name="connsiteX8" fmla="*/ 57074 w 417960"/>
                <a:gd name="connsiteY8" fmla="*/ 118260 h 157638"/>
                <a:gd name="connsiteX9" fmla="*/ 61435 w 417960"/>
                <a:gd name="connsiteY9" fmla="*/ 96577 h 157638"/>
                <a:gd name="connsiteX10" fmla="*/ 132342 w 417960"/>
                <a:gd name="connsiteY10" fmla="*/ 96577 h 157638"/>
                <a:gd name="connsiteX11" fmla="*/ 139569 w 417960"/>
                <a:gd name="connsiteY11" fmla="*/ 61062 h 157638"/>
                <a:gd name="connsiteX12" fmla="*/ 68538 w 417960"/>
                <a:gd name="connsiteY12" fmla="*/ 61062 h 157638"/>
                <a:gd name="connsiteX13" fmla="*/ 72900 w 417960"/>
                <a:gd name="connsiteY13" fmla="*/ 39378 h 157638"/>
                <a:gd name="connsiteX14" fmla="*/ 185303 w 417960"/>
                <a:gd name="connsiteY14" fmla="*/ 39378 h 157638"/>
                <a:gd name="connsiteX15" fmla="*/ 161626 w 417960"/>
                <a:gd name="connsiteY15" fmla="*/ 157638 h 157638"/>
                <a:gd name="connsiteX16" fmla="*/ 210849 w 417960"/>
                <a:gd name="connsiteY16" fmla="*/ 157638 h 157638"/>
                <a:gd name="connsiteX17" fmla="*/ 234651 w 417960"/>
                <a:gd name="connsiteY17" fmla="*/ 39378 h 157638"/>
                <a:gd name="connsiteX18" fmla="*/ 276023 w 417960"/>
                <a:gd name="connsiteY18" fmla="*/ 39378 h 157638"/>
                <a:gd name="connsiteX19" fmla="*/ 252222 w 417960"/>
                <a:gd name="connsiteY19" fmla="*/ 157638 h 157638"/>
                <a:gd name="connsiteX20" fmla="*/ 301569 w 417960"/>
                <a:gd name="connsiteY20" fmla="*/ 157638 h 157638"/>
                <a:gd name="connsiteX21" fmla="*/ 313657 w 417960"/>
                <a:gd name="connsiteY21" fmla="*/ 96577 h 157638"/>
                <a:gd name="connsiteX22" fmla="*/ 349172 w 417960"/>
                <a:gd name="connsiteY22" fmla="*/ 96577 h 157638"/>
                <a:gd name="connsiteX23" fmla="*/ 336960 w 417960"/>
                <a:gd name="connsiteY23" fmla="*/ 157638 h 157638"/>
                <a:gd name="connsiteX24" fmla="*/ 386308 w 417960"/>
                <a:gd name="connsiteY24" fmla="*/ 157638 h 157638"/>
                <a:gd name="connsiteX25" fmla="*/ 417960 w 417960"/>
                <a:gd name="connsiteY25" fmla="*/ 0 h 157638"/>
                <a:gd name="connsiteX26" fmla="*/ 368612 w 417960"/>
                <a:gd name="connsiteY26" fmla="*/ 0 h 1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17960" h="157638">
                  <a:moveTo>
                    <a:pt x="368612" y="0"/>
                  </a:moveTo>
                  <a:lnTo>
                    <a:pt x="356151" y="61062"/>
                  </a:lnTo>
                  <a:lnTo>
                    <a:pt x="320760" y="61062"/>
                  </a:lnTo>
                  <a:lnTo>
                    <a:pt x="333222" y="0"/>
                  </a:lnTo>
                  <a:lnTo>
                    <a:pt x="31652" y="0"/>
                  </a:lnTo>
                  <a:lnTo>
                    <a:pt x="0" y="157638"/>
                  </a:lnTo>
                  <a:lnTo>
                    <a:pt x="120254" y="157638"/>
                  </a:lnTo>
                  <a:lnTo>
                    <a:pt x="128105" y="118260"/>
                  </a:lnTo>
                  <a:lnTo>
                    <a:pt x="57074" y="118260"/>
                  </a:lnTo>
                  <a:lnTo>
                    <a:pt x="61435" y="96577"/>
                  </a:lnTo>
                  <a:lnTo>
                    <a:pt x="132342" y="96577"/>
                  </a:lnTo>
                  <a:lnTo>
                    <a:pt x="139569" y="61062"/>
                  </a:lnTo>
                  <a:lnTo>
                    <a:pt x="68538" y="61062"/>
                  </a:lnTo>
                  <a:lnTo>
                    <a:pt x="72900" y="39378"/>
                  </a:lnTo>
                  <a:lnTo>
                    <a:pt x="185303" y="39378"/>
                  </a:lnTo>
                  <a:lnTo>
                    <a:pt x="161626" y="157638"/>
                  </a:lnTo>
                  <a:lnTo>
                    <a:pt x="210849" y="157638"/>
                  </a:lnTo>
                  <a:lnTo>
                    <a:pt x="234651" y="39378"/>
                  </a:lnTo>
                  <a:lnTo>
                    <a:pt x="276023" y="39378"/>
                  </a:lnTo>
                  <a:lnTo>
                    <a:pt x="252222" y="157638"/>
                  </a:lnTo>
                  <a:lnTo>
                    <a:pt x="301569" y="157638"/>
                  </a:lnTo>
                  <a:lnTo>
                    <a:pt x="313657" y="96577"/>
                  </a:lnTo>
                  <a:lnTo>
                    <a:pt x="349172" y="96577"/>
                  </a:lnTo>
                  <a:lnTo>
                    <a:pt x="336960" y="157638"/>
                  </a:lnTo>
                  <a:lnTo>
                    <a:pt x="386308" y="157638"/>
                  </a:lnTo>
                  <a:lnTo>
                    <a:pt x="417960" y="0"/>
                  </a:lnTo>
                  <a:lnTo>
                    <a:pt x="368612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</p:grpSp>
    </p:spTree>
    <p:extLst>
      <p:ext uri="{BB962C8B-B14F-4D97-AF65-F5344CB8AC3E}">
        <p14:creationId xmlns:p14="http://schemas.microsoft.com/office/powerpoint/2010/main" val="3716835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C2547-0B26-4181-9958-0F74634B97A1}" type="datetime1">
              <a:rPr lang="de-CH" noProof="0" smtClean="0"/>
              <a:t>21.09.2022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1412874"/>
            <a:ext cx="10728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943852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33879-9C0F-4F94-919F-30B833E8871A}" type="datetime1">
              <a:rPr lang="de-CH" noProof="0" smtClean="0"/>
              <a:t>21.09.2022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260350"/>
            <a:ext cx="10728000" cy="6012524"/>
          </a:xfrm>
        </p:spPr>
        <p:txBody>
          <a:bodyPr tIns="21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842048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163" y="1412875"/>
            <a:ext cx="5256000" cy="486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21.09.2022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040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996394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5121800"/>
            <a:ext cx="5255999" cy="11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B9425-7348-43E2-B0E9-6A2A48F5FA8A}" type="datetime1">
              <a:rPr lang="de-CH" noProof="0" smtClean="0"/>
              <a:t>21.09.2022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1AAB6914-2518-430D-BF4C-14EA51B614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4162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5092EEFB-079B-4C38-A665-E52B9837601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04162" y="5121800"/>
            <a:ext cx="5256001" cy="11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085750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4166439"/>
            <a:ext cx="10728327" cy="212440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782B2-018B-4FD3-AD95-2F64EDE0E9D6}" type="datetime1">
              <a:rPr lang="de-CH" noProof="0" smtClean="0"/>
              <a:t>21.09.2022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40162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85999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252988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"/>
          </a:xfrm>
        </p:spPr>
        <p:txBody>
          <a:bodyPr/>
          <a:lstStyle>
            <a:lvl1pPr marL="0" indent="0">
              <a:buNone/>
              <a:defRPr b="1"/>
            </a:lvl1pPr>
            <a:lvl2pPr marL="266700" indent="0">
              <a:buNone/>
              <a:defRPr b="1"/>
            </a:lvl2pPr>
            <a:lvl3pPr marL="538163" indent="0">
              <a:buNone/>
              <a:defRPr b="1"/>
            </a:lvl3pPr>
            <a:lvl4pPr marL="804862" indent="0">
              <a:buNone/>
              <a:defRPr b="1"/>
            </a:lvl4pPr>
            <a:lvl5pPr marL="1076325" indent="0">
              <a:buNone/>
              <a:defRPr b="1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0FED0-443D-411A-B8E4-0668A8890EE3}" type="datetime1">
              <a:rPr lang="de-CH" noProof="0" smtClean="0"/>
              <a:t>21.09.2022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9" name="Tabellenplatzhalter 8">
            <a:extLst>
              <a:ext uri="{FF2B5EF4-FFF2-40B4-BE49-F238E27FC236}">
                <a16:creationId xmlns:a16="http://schemas.microsoft.com/office/drawing/2014/main" id="{A1D947E6-CC00-458E-BDE1-B0877E30333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731838" y="2061398"/>
            <a:ext cx="10728325" cy="4212401"/>
          </a:xfrm>
        </p:spPr>
        <p:txBody>
          <a:bodyPr tIns="1260000"/>
          <a:lstStyle>
            <a:lvl1pPr marL="0" indent="0" algn="ctr">
              <a:spcBef>
                <a:spcPts val="0"/>
              </a:spcBef>
              <a:buNone/>
              <a:defRPr sz="1400"/>
            </a:lvl1pPr>
          </a:lstStyle>
          <a:p>
            <a:r>
              <a:rPr lang="en-US" noProof="0"/>
              <a:t>Click icon to add table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92866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394B20FF-3667-40DF-92A1-C6CF3BBC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2135492"/>
            <a:ext cx="10728325" cy="396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540000" indent="0">
              <a:buNone/>
              <a:defRPr>
                <a:solidFill>
                  <a:schemeClr val="bg1"/>
                </a:solidFill>
              </a:defRPr>
            </a:lvl3pPr>
            <a:lvl4pPr marL="808537" indent="0">
              <a:buNone/>
              <a:defRPr>
                <a:solidFill>
                  <a:schemeClr val="bg1"/>
                </a:solidFill>
              </a:defRPr>
            </a:lvl4pPr>
            <a:lvl5pPr marL="1080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794484F1-3B7F-46CE-AD0B-2310A557A99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F900572E-A73E-42BE-96FA-38ADC4E79F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670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98">
          <p15:clr>
            <a:srgbClr val="FBAE40"/>
          </p15:clr>
        </p15:guide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9CEF804-E58C-481B-A606-7D35AF68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CH" noProof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C6EC0D-393C-42F2-B6A7-B19C9B098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7" y="1412875"/>
            <a:ext cx="10728325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noProof="0"/>
              <a:t>Mastertextformat bearbeiten</a:t>
            </a:r>
          </a:p>
          <a:p>
            <a:pPr lvl="1"/>
            <a:r>
              <a:rPr lang="de-CH" noProof="0"/>
              <a:t>Zweite Ebene</a:t>
            </a:r>
          </a:p>
          <a:p>
            <a:pPr lvl="2"/>
            <a:r>
              <a:rPr lang="de-CH" noProof="0"/>
              <a:t>Dritte Ebene</a:t>
            </a:r>
          </a:p>
          <a:p>
            <a:pPr lvl="3"/>
            <a:r>
              <a:rPr lang="de-CH" noProof="0"/>
              <a:t>Vierte Ebene</a:t>
            </a:r>
          </a:p>
          <a:p>
            <a:pPr lvl="4"/>
            <a:r>
              <a:rPr lang="de-CH" noProof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C96E51-36C9-4BEE-A761-33378A0DF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3692" y="6522444"/>
            <a:ext cx="612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4A358CF3-A22A-46C1-A4E5-5810212466EF}" type="datetime1">
              <a:rPr lang="de-CH" noProof="0" smtClean="0"/>
              <a:t>21.09.2022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1EC403-6E63-4450-AFDD-66CA49D6CC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71700" y="6522444"/>
            <a:ext cx="540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DFCC57-7DDC-4B2C-A6BE-862DAF9C9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09606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0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1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5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461" userDrawn="1">
          <p15:clr>
            <a:srgbClr val="F26B43"/>
          </p15:clr>
        </p15:guide>
        <p15:guide id="3" pos="7219" userDrawn="1">
          <p15:clr>
            <a:srgbClr val="F26B43"/>
          </p15:clr>
        </p15:guide>
        <p15:guide id="4" orient="horz" pos="164" userDrawn="1">
          <p15:clr>
            <a:srgbClr val="F26B43"/>
          </p15:clr>
        </p15:guide>
        <p15:guide id="5" orient="horz" pos="890" userDrawn="1">
          <p15:clr>
            <a:srgbClr val="F26B43"/>
          </p15:clr>
        </p15:guide>
        <p15:guide id="6" orient="horz" pos="4201" userDrawn="1">
          <p15:clr>
            <a:srgbClr val="F26B43"/>
          </p15:clr>
        </p15:guide>
        <p15:guide id="7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Bildplatzhalter 18" descr="Ein Bild, das Gebäude, Stadt, Schloss, Turm enthält.&#10;&#10;Automatisch generierte Beschreibung">
            <a:extLst>
              <a:ext uri="{FF2B5EF4-FFF2-40B4-BE49-F238E27FC236}">
                <a16:creationId xmlns:a16="http://schemas.microsoft.com/office/drawing/2014/main" id="{882FF669-564A-4497-A386-BA8B28F256B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1" b="461"/>
          <a:stretch>
            <a:fillRect/>
          </a:stretch>
        </p:blipFill>
        <p:spPr/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AC1FB292-90C1-439C-8480-EB4116CF23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2233538"/>
            <a:ext cx="9582913" cy="2772000"/>
          </a:xfrm>
        </p:spPr>
        <p:txBody>
          <a:bodyPr/>
          <a:lstStyle/>
          <a:p>
            <a:r>
              <a:rPr lang="de-DE" dirty="0"/>
              <a:t>Natural gas v alternative </a:t>
            </a:r>
            <a:r>
              <a:rPr lang="de-DE" dirty="0" err="1"/>
              <a:t>routes</a:t>
            </a:r>
            <a:r>
              <a:rPr lang="de-DE" dirty="0"/>
              <a:t> for </a:t>
            </a:r>
            <a:r>
              <a:rPr lang="de-DE" dirty="0" err="1"/>
              <a:t>production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chemicals</a:t>
            </a:r>
            <a:r>
              <a:rPr lang="de-DE" dirty="0"/>
              <a:t> in 2022</a:t>
            </a:r>
            <a:endParaRPr lang="de-CH" sz="200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171C1F6-869F-40B1-8975-92FF2042F4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54453" y="3959875"/>
            <a:ext cx="4680000" cy="1008000"/>
          </a:xfrm>
        </p:spPr>
        <p:txBody>
          <a:bodyPr/>
          <a:lstStyle/>
          <a:p>
            <a:r>
              <a:rPr lang="de-DE" b="1" dirty="0"/>
              <a:t>Abhinandan Nabera</a:t>
            </a:r>
          </a:p>
          <a:p>
            <a:r>
              <a:rPr lang="de-DE" dirty="0"/>
              <a:t>22. September 2022</a:t>
            </a:r>
            <a:endParaRPr lang="de-CH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C6B18E6F-BDD9-4B0B-9B9E-C25187E0E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411158" y="355832"/>
            <a:ext cx="3049005" cy="346715"/>
          </a:xfrm>
        </p:spPr>
        <p:txBody>
          <a:bodyPr/>
          <a:lstStyle/>
          <a:p>
            <a:r>
              <a:rPr lang="de-DE" dirty="0"/>
              <a:t>Institute for Chemical and Bioengineering</a:t>
            </a:r>
          </a:p>
          <a:p>
            <a:r>
              <a:rPr lang="de-DE" dirty="0"/>
              <a:t>Sustainable Process Systems Engineering Lab</a:t>
            </a:r>
          </a:p>
        </p:txBody>
      </p:sp>
      <p:pic>
        <p:nvPicPr>
          <p:cNvPr id="8" name="Bildplatzhalter 12">
            <a:extLst>
              <a:ext uri="{FF2B5EF4-FFF2-40B4-BE49-F238E27FC236}">
                <a16:creationId xmlns:a16="http://schemas.microsoft.com/office/drawing/2014/main" id="{A8263AB7-96B1-713F-8090-21CF1977D442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3045" y="6431200"/>
            <a:ext cx="787118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168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8BE03-0095-6FD0-52AF-FEC126D4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Ammonia and methanol </a:t>
            </a:r>
            <a:r>
              <a:rPr lang="en-US" dirty="0"/>
              <a:t>are the most energy intensive chemicals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00B65-06E3-36B2-AF36-6D42DC1A0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21.09.2022</a:t>
            </a:fld>
            <a:endParaRPr lang="de-CH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141C-66FA-1C31-7632-6292FB29B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</a:t>
            </a:fld>
            <a:endParaRPr lang="de-CH" noProof="0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6EBEFAAE-0CB7-B0F7-7D67-78B0B4CFE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1700" y="6522444"/>
            <a:ext cx="5400000" cy="216000"/>
          </a:xfrm>
        </p:spPr>
        <p:txBody>
          <a:bodyPr/>
          <a:lstStyle/>
          <a:p>
            <a:r>
              <a:rPr lang="de-DE" dirty="0"/>
              <a:t>Sustainable Process Systems Engineering Lab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B281D1-C834-8EA2-E382-F319BE8D8C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545" y="1609932"/>
            <a:ext cx="6012701" cy="401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255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050A74-6ED2-41B3-AD63-74F89C44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FF0000"/>
                </a:solidFill>
              </a:rPr>
              <a:t>SMR and WGS </a:t>
            </a:r>
            <a:r>
              <a:rPr lang="de-DE" dirty="0"/>
              <a:t>for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production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conventional</a:t>
            </a:r>
            <a:r>
              <a:rPr lang="de-DE" dirty="0"/>
              <a:t> hydrogen</a:t>
            </a:r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08BFF2-5DEB-4FE4-A3E3-C18FD3A38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Sustainable Process Systems Engineering Lab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726846-AD64-4677-BEA5-D3BDD96C7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2947E-D2DB-4F76-9588-775FC8D85F8C}" type="datetime1">
              <a:rPr lang="de-CH" noProof="0" smtClean="0"/>
              <a:t>21.09.2022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665EC3-3ED3-4D21-AC3C-EAD0881BA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</a:t>
            </a:fld>
            <a:endParaRPr lang="de-CH" noProof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E890B72-F0E7-4CA2-39E3-64A315468D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396" y="1763885"/>
            <a:ext cx="8855207" cy="333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086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050A74-6ED2-41B3-AD63-74F89C44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FF0000"/>
                </a:solidFill>
              </a:rPr>
              <a:t>Haber Bosch </a:t>
            </a:r>
            <a:r>
              <a:rPr lang="de-DE" dirty="0" err="1">
                <a:solidFill>
                  <a:srgbClr val="FF0000"/>
                </a:solidFill>
              </a:rPr>
              <a:t>process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/>
              <a:t>for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production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ammonia</a:t>
            </a:r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08BFF2-5DEB-4FE4-A3E3-C18FD3A38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Sustainable Process Systems Engineering Lab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726846-AD64-4677-BEA5-D3BDD96C7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2947E-D2DB-4F76-9588-775FC8D85F8C}" type="datetime1">
              <a:rPr lang="de-CH" noProof="0" smtClean="0"/>
              <a:t>21.09.2022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665EC3-3ED3-4D21-AC3C-EAD0881BA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4</a:t>
            </a:fld>
            <a:endParaRPr lang="de-CH" noProof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E890B72-F0E7-4CA2-39E3-64A315468D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9253" y="1763885"/>
            <a:ext cx="8504893" cy="33302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B591B8-AC7E-3B31-E8FC-E542D98A3AE3}"/>
              </a:ext>
            </a:extLst>
          </p:cNvPr>
          <p:cNvSpPr txBox="1"/>
          <p:nvPr/>
        </p:nvSpPr>
        <p:spPr>
          <a:xfrm>
            <a:off x="8734902" y="1807428"/>
            <a:ext cx="31958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use hydrogen from electrolysis </a:t>
            </a:r>
            <a:r>
              <a:rPr lang="en-US" i="1" dirty="0"/>
              <a:t>i.e., </a:t>
            </a:r>
            <a:r>
              <a:rPr lang="en-US" dirty="0"/>
              <a:t>green hydrogen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1CD468-A946-75D8-CC7E-AE84C0AD6E51}"/>
              </a:ext>
            </a:extLst>
          </p:cNvPr>
          <p:cNvSpPr/>
          <p:nvPr/>
        </p:nvSpPr>
        <p:spPr>
          <a:xfrm>
            <a:off x="3595396" y="2593910"/>
            <a:ext cx="690465" cy="13684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E9B4D46-5AC3-BF59-FE24-B195C3D5E69E}"/>
              </a:ext>
            </a:extLst>
          </p:cNvPr>
          <p:cNvCxnSpPr>
            <a:cxnSpLocks/>
            <a:stCxn id="7" idx="3"/>
            <a:endCxn id="3" idx="1"/>
          </p:cNvCxnSpPr>
          <p:nvPr/>
        </p:nvCxnSpPr>
        <p:spPr>
          <a:xfrm flipV="1">
            <a:off x="4285861" y="2407593"/>
            <a:ext cx="4449041" cy="2547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7234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050A74-6ED2-41B3-AD63-74F89C44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>
                <a:solidFill>
                  <a:srgbClr val="FF0000"/>
                </a:solidFill>
              </a:rPr>
              <a:t>Conventional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process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/>
              <a:t>for </a:t>
            </a:r>
            <a:r>
              <a:rPr lang="de-DE" dirty="0" err="1"/>
              <a:t>methanol</a:t>
            </a:r>
            <a:r>
              <a:rPr lang="de-DE" dirty="0"/>
              <a:t> </a:t>
            </a:r>
            <a:r>
              <a:rPr lang="de-DE" dirty="0" err="1"/>
              <a:t>production</a:t>
            </a:r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08BFF2-5DEB-4FE4-A3E3-C18FD3A38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Sustainable Process Systems Engineering Lab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726846-AD64-4677-BEA5-D3BDD96C7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2947E-D2DB-4F76-9588-775FC8D85F8C}" type="datetime1">
              <a:rPr lang="de-CH" noProof="0" smtClean="0"/>
              <a:t>21.09.2022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665EC3-3ED3-4D21-AC3C-EAD0881BA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5</a:t>
            </a:fld>
            <a:endParaRPr lang="de-CH" noProof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73B0EF-7C83-F48E-23E7-30F555695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691" y="1436197"/>
            <a:ext cx="9670618" cy="398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0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050A74-6ED2-41B3-AD63-74F89C44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FF0000"/>
                </a:solidFill>
              </a:rPr>
              <a:t>Green alternative </a:t>
            </a:r>
            <a:r>
              <a:rPr lang="de-DE" dirty="0"/>
              <a:t>for </a:t>
            </a:r>
            <a:r>
              <a:rPr lang="de-DE" dirty="0" err="1"/>
              <a:t>methanol</a:t>
            </a:r>
            <a:r>
              <a:rPr lang="de-DE" dirty="0"/>
              <a:t> </a:t>
            </a:r>
            <a:r>
              <a:rPr lang="de-DE" dirty="0" err="1"/>
              <a:t>production</a:t>
            </a:r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08BFF2-5DEB-4FE4-A3E3-C18FD3A38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Sustainable Process Systems Engineering Lab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726846-AD64-4677-BEA5-D3BDD96C7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2947E-D2DB-4F76-9588-775FC8D85F8C}" type="datetime1">
              <a:rPr lang="de-CH" noProof="0" smtClean="0"/>
              <a:t>21.09.2022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665EC3-3ED3-4D21-AC3C-EAD0881BA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6</a:t>
            </a:fld>
            <a:endParaRPr lang="de-CH" noProof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73B0EF-7C83-F48E-23E7-30F555695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0691" y="2040299"/>
            <a:ext cx="9670618" cy="277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04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050A74-6ED2-41B3-AD63-74F89C44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FF0000"/>
                </a:solidFill>
              </a:rPr>
              <a:t>Natural gas </a:t>
            </a:r>
            <a:r>
              <a:rPr lang="de-DE" dirty="0" err="1">
                <a:solidFill>
                  <a:srgbClr val="FF0000"/>
                </a:solidFill>
              </a:rPr>
              <a:t>prices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/>
              <a:t>– </a:t>
            </a:r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scenario</a:t>
            </a:r>
            <a:r>
              <a:rPr lang="de-DE" dirty="0"/>
              <a:t> in EUR/MWh</a:t>
            </a:r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08BFF2-5DEB-4FE4-A3E3-C18FD3A38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Sustainable Process Systems Engineering Lab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726846-AD64-4677-BEA5-D3BDD96C7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2947E-D2DB-4F76-9588-775FC8D85F8C}" type="datetime1">
              <a:rPr lang="de-CH" noProof="0" smtClean="0"/>
              <a:t>21.09.2022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665EC3-3ED3-4D21-AC3C-EAD0881BA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7</a:t>
            </a:fld>
            <a:endParaRPr lang="de-CH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61F22D-74FB-E3B2-FBC8-33416DD5E2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3662" y="1215215"/>
            <a:ext cx="6706529" cy="46498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AA915F-E932-2D88-154C-5E1C3922EF47}"/>
              </a:ext>
            </a:extLst>
          </p:cNvPr>
          <p:cNvSpPr txBox="1"/>
          <p:nvPr/>
        </p:nvSpPr>
        <p:spPr>
          <a:xfrm>
            <a:off x="8040873" y="1931934"/>
            <a:ext cx="384010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Currently, natural gas prices are </a:t>
            </a:r>
            <a:r>
              <a:rPr lang="en-US" dirty="0">
                <a:solidFill>
                  <a:srgbClr val="FF0000"/>
                </a:solidFill>
              </a:rPr>
              <a:t>five times </a:t>
            </a:r>
            <a:r>
              <a:rPr lang="en-US" dirty="0"/>
              <a:t>the average of 2021 (40 EUR/MWh).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reached a high price of </a:t>
            </a:r>
            <a:r>
              <a:rPr lang="en-US" dirty="0">
                <a:solidFill>
                  <a:srgbClr val="FF0000"/>
                </a:solidFill>
              </a:rPr>
              <a:t>345 EUR/MWh</a:t>
            </a:r>
            <a:r>
              <a:rPr lang="en-US" dirty="0"/>
              <a:t> in 2022.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Green routes v conventional routes.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CFF202-9292-6162-125B-0FBE7B6E36C7}"/>
              </a:ext>
            </a:extLst>
          </p:cNvPr>
          <p:cNvSpPr txBox="1"/>
          <p:nvPr/>
        </p:nvSpPr>
        <p:spPr>
          <a:xfrm>
            <a:off x="3607837" y="2575276"/>
            <a:ext cx="33522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For NG, 1 EUR/MWh = 13.1 EUR/t</a:t>
            </a:r>
          </a:p>
        </p:txBody>
      </p:sp>
    </p:spTree>
    <p:extLst>
      <p:ext uri="{BB962C8B-B14F-4D97-AF65-F5344CB8AC3E}">
        <p14:creationId xmlns:p14="http://schemas.microsoft.com/office/powerpoint/2010/main" val="2343902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4FBE2-C351-A046-3613-31283957A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FF0000"/>
                </a:solidFill>
              </a:rPr>
              <a:t>Hydrogen </a:t>
            </a:r>
            <a:r>
              <a:rPr lang="de-DE" dirty="0" err="1">
                <a:solidFill>
                  <a:srgbClr val="FF0000"/>
                </a:solidFill>
              </a:rPr>
              <a:t>from</a:t>
            </a:r>
            <a:r>
              <a:rPr lang="de-DE" dirty="0">
                <a:solidFill>
                  <a:srgbClr val="FF0000"/>
                </a:solidFill>
              </a:rPr>
              <a:t> wind </a:t>
            </a:r>
            <a:r>
              <a:rPr lang="de-DE" dirty="0" err="1">
                <a:solidFill>
                  <a:srgbClr val="FF0000"/>
                </a:solidFill>
              </a:rPr>
              <a:t>electrolysis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economically</a:t>
            </a:r>
            <a:r>
              <a:rPr lang="de-DE" dirty="0"/>
              <a:t> a </a:t>
            </a:r>
            <a:r>
              <a:rPr lang="de-DE" dirty="0" err="1"/>
              <a:t>better</a:t>
            </a:r>
            <a:r>
              <a:rPr lang="de-DE" dirty="0"/>
              <a:t> </a:t>
            </a:r>
            <a:r>
              <a:rPr lang="de-DE" dirty="0" err="1"/>
              <a:t>option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scenario</a:t>
            </a:r>
            <a:r>
              <a:rPr lang="de-DE" dirty="0"/>
              <a:t>…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6EDE6-0FF1-E449-D622-D9BD3986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21.09.2022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8120A-9864-C34D-A772-48DC77927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2E7EA-53B0-8905-81BA-8697D059E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8</a:t>
            </a:fld>
            <a:endParaRPr lang="de-CH" noProof="0"/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3D5EB62A-2699-A629-E843-1D4A706A3E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7981" y="1157371"/>
            <a:ext cx="4873453" cy="5147035"/>
          </a:xfrm>
        </p:spPr>
      </p:pic>
    </p:spTree>
    <p:extLst>
      <p:ext uri="{BB962C8B-B14F-4D97-AF65-F5344CB8AC3E}">
        <p14:creationId xmlns:p14="http://schemas.microsoft.com/office/powerpoint/2010/main" val="1732921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4FBE2-C351-A046-3613-31283957A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FF0000"/>
                </a:solidFill>
              </a:rPr>
              <a:t>Hydrogen </a:t>
            </a:r>
            <a:r>
              <a:rPr lang="de-DE" dirty="0" err="1">
                <a:solidFill>
                  <a:srgbClr val="FF0000"/>
                </a:solidFill>
              </a:rPr>
              <a:t>from</a:t>
            </a:r>
            <a:r>
              <a:rPr lang="de-DE" dirty="0">
                <a:solidFill>
                  <a:srgbClr val="FF0000"/>
                </a:solidFill>
              </a:rPr>
              <a:t> wind </a:t>
            </a:r>
            <a:r>
              <a:rPr lang="de-DE" dirty="0" err="1">
                <a:solidFill>
                  <a:srgbClr val="FF0000"/>
                </a:solidFill>
              </a:rPr>
              <a:t>electrolysis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economically</a:t>
            </a:r>
            <a:r>
              <a:rPr lang="de-DE" dirty="0"/>
              <a:t> a </a:t>
            </a:r>
            <a:r>
              <a:rPr lang="de-DE" dirty="0" err="1"/>
              <a:t>better</a:t>
            </a:r>
            <a:r>
              <a:rPr lang="de-DE" dirty="0"/>
              <a:t> </a:t>
            </a:r>
            <a:r>
              <a:rPr lang="de-DE" dirty="0" err="1"/>
              <a:t>option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scenario</a:t>
            </a:r>
            <a:r>
              <a:rPr lang="de-DE" dirty="0"/>
              <a:t>…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6EDE6-0FF1-E449-D622-D9BD3986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21.09.2022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8120A-9864-C34D-A772-48DC77927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2E7EA-53B0-8905-81BA-8697D059E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9</a:t>
            </a:fld>
            <a:endParaRPr lang="de-CH" noProof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E823DDE-8FCA-1514-7AB7-1E28E93435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286" y="1097280"/>
            <a:ext cx="10314587" cy="5251577"/>
          </a:xfrm>
        </p:spPr>
      </p:pic>
    </p:spTree>
    <p:extLst>
      <p:ext uri="{BB962C8B-B14F-4D97-AF65-F5344CB8AC3E}">
        <p14:creationId xmlns:p14="http://schemas.microsoft.com/office/powerpoint/2010/main" val="503397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4FBE2-C351-A046-3613-31283957A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>
                <a:solidFill>
                  <a:srgbClr val="FF0000"/>
                </a:solidFill>
              </a:rPr>
              <a:t>Simlarly</a:t>
            </a:r>
            <a:r>
              <a:rPr lang="de-DE" dirty="0">
                <a:solidFill>
                  <a:srgbClr val="FF0000"/>
                </a:solidFill>
              </a:rPr>
              <a:t> for </a:t>
            </a:r>
            <a:r>
              <a:rPr lang="de-DE" dirty="0" err="1">
                <a:solidFill>
                  <a:srgbClr val="FF0000"/>
                </a:solidFill>
              </a:rPr>
              <a:t>methanol</a:t>
            </a:r>
            <a:r>
              <a:rPr lang="de-DE" dirty="0">
                <a:solidFill>
                  <a:srgbClr val="FF0000"/>
                </a:solidFill>
              </a:rPr>
              <a:t>, </a:t>
            </a:r>
            <a:r>
              <a:rPr lang="de-DE" dirty="0" err="1"/>
              <a:t>green</a:t>
            </a:r>
            <a:r>
              <a:rPr lang="de-DE" dirty="0"/>
              <a:t> </a:t>
            </a:r>
            <a:r>
              <a:rPr lang="de-DE" dirty="0" err="1"/>
              <a:t>routes</a:t>
            </a:r>
            <a:r>
              <a:rPr lang="de-DE" dirty="0"/>
              <a:t> perform </a:t>
            </a:r>
            <a:r>
              <a:rPr lang="de-DE" dirty="0" err="1"/>
              <a:t>better</a:t>
            </a:r>
            <a:r>
              <a:rPr lang="de-DE" dirty="0"/>
              <a:t> </a:t>
            </a:r>
            <a:r>
              <a:rPr lang="de-DE" dirty="0" err="1"/>
              <a:t>economically</a:t>
            </a:r>
            <a:r>
              <a:rPr lang="de-DE" dirty="0"/>
              <a:t>…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6EDE6-0FF1-E449-D622-D9BD3986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21.09.2022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8120A-9864-C34D-A772-48DC77927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2E7EA-53B0-8905-81BA-8697D059E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10</a:t>
            </a:fld>
            <a:endParaRPr lang="de-CH" noProof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49A5ADA-B759-9C13-3CF9-19DA1F3C4B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85061" y="817377"/>
            <a:ext cx="5182283" cy="5497118"/>
          </a:xfrm>
        </p:spPr>
      </p:pic>
    </p:spTree>
    <p:extLst>
      <p:ext uri="{BB962C8B-B14F-4D97-AF65-F5344CB8AC3E}">
        <p14:creationId xmlns:p14="http://schemas.microsoft.com/office/powerpoint/2010/main" val="2284022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4FBE2-C351-A046-3613-31283957A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>
                <a:solidFill>
                  <a:srgbClr val="FF0000"/>
                </a:solidFill>
              </a:rPr>
              <a:t>Simlarly</a:t>
            </a:r>
            <a:r>
              <a:rPr lang="de-DE" dirty="0">
                <a:solidFill>
                  <a:srgbClr val="FF0000"/>
                </a:solidFill>
              </a:rPr>
              <a:t> for </a:t>
            </a:r>
            <a:r>
              <a:rPr lang="de-DE" dirty="0" err="1">
                <a:solidFill>
                  <a:srgbClr val="FF0000"/>
                </a:solidFill>
              </a:rPr>
              <a:t>methanol</a:t>
            </a:r>
            <a:r>
              <a:rPr lang="de-DE" dirty="0">
                <a:solidFill>
                  <a:srgbClr val="FF0000"/>
                </a:solidFill>
              </a:rPr>
              <a:t>, </a:t>
            </a:r>
            <a:r>
              <a:rPr lang="de-DE" dirty="0" err="1"/>
              <a:t>green</a:t>
            </a:r>
            <a:r>
              <a:rPr lang="de-DE" dirty="0"/>
              <a:t> </a:t>
            </a:r>
            <a:r>
              <a:rPr lang="de-DE" dirty="0" err="1"/>
              <a:t>routes</a:t>
            </a:r>
            <a:r>
              <a:rPr lang="de-DE" dirty="0"/>
              <a:t> perform </a:t>
            </a:r>
            <a:r>
              <a:rPr lang="de-DE" dirty="0" err="1"/>
              <a:t>better</a:t>
            </a:r>
            <a:r>
              <a:rPr lang="de-DE" dirty="0"/>
              <a:t> </a:t>
            </a:r>
            <a:r>
              <a:rPr lang="de-DE" dirty="0" err="1"/>
              <a:t>economically</a:t>
            </a:r>
            <a:r>
              <a:rPr lang="de-DE" dirty="0"/>
              <a:t>…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6EDE6-0FF1-E449-D622-D9BD3986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21.09.2022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8120A-9864-C34D-A772-48DC77927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2E7EA-53B0-8905-81BA-8697D059E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11</a:t>
            </a:fld>
            <a:endParaRPr lang="de-CH" noProof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D5C900B-540D-17F0-9994-BDD02CFE30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6248" y="944880"/>
            <a:ext cx="10266734" cy="5300345"/>
          </a:xfrm>
        </p:spPr>
      </p:pic>
    </p:spTree>
    <p:extLst>
      <p:ext uri="{BB962C8B-B14F-4D97-AF65-F5344CB8AC3E}">
        <p14:creationId xmlns:p14="http://schemas.microsoft.com/office/powerpoint/2010/main" val="1902957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4FBE2-C351-A046-3613-31283957A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FF0000"/>
                </a:solidFill>
              </a:rPr>
              <a:t>For </a:t>
            </a:r>
            <a:r>
              <a:rPr lang="de-DE" dirty="0" err="1">
                <a:solidFill>
                  <a:srgbClr val="FF0000"/>
                </a:solidFill>
              </a:rPr>
              <a:t>propanol</a:t>
            </a:r>
            <a:r>
              <a:rPr lang="de-DE" dirty="0">
                <a:solidFill>
                  <a:srgbClr val="FF0000"/>
                </a:solidFill>
              </a:rPr>
              <a:t>, </a:t>
            </a:r>
            <a:r>
              <a:rPr lang="de-DE" dirty="0" err="1"/>
              <a:t>complete</a:t>
            </a:r>
            <a:r>
              <a:rPr lang="de-DE" dirty="0"/>
              <a:t> </a:t>
            </a:r>
            <a:r>
              <a:rPr lang="de-DE" dirty="0" err="1"/>
              <a:t>green</a:t>
            </a:r>
            <a:r>
              <a:rPr lang="de-DE" dirty="0"/>
              <a:t> </a:t>
            </a:r>
            <a:r>
              <a:rPr lang="de-DE" dirty="0" err="1"/>
              <a:t>routes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not </a:t>
            </a:r>
            <a:r>
              <a:rPr lang="de-DE" dirty="0" err="1"/>
              <a:t>yet</a:t>
            </a:r>
            <a:r>
              <a:rPr lang="de-DE" dirty="0"/>
              <a:t> </a:t>
            </a:r>
            <a:r>
              <a:rPr lang="de-DE" dirty="0" err="1"/>
              <a:t>better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BAU route…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6EDE6-0FF1-E449-D622-D9BD3986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21.09.2022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8120A-9864-C34D-A772-48DC77927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2E7EA-53B0-8905-81BA-8697D059E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12</a:t>
            </a:fld>
            <a:endParaRPr lang="de-CH" noProof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49A5ADA-B759-9C13-3CF9-19DA1F3C4B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94489" y="979165"/>
            <a:ext cx="5203022" cy="5397528"/>
          </a:xfrm>
        </p:spPr>
      </p:pic>
    </p:spTree>
    <p:extLst>
      <p:ext uri="{BB962C8B-B14F-4D97-AF65-F5344CB8AC3E}">
        <p14:creationId xmlns:p14="http://schemas.microsoft.com/office/powerpoint/2010/main" val="113302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4FBE2-C351-A046-3613-31283957A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FF0000"/>
                </a:solidFill>
              </a:rPr>
              <a:t>For </a:t>
            </a:r>
            <a:r>
              <a:rPr lang="de-DE" dirty="0" err="1">
                <a:solidFill>
                  <a:srgbClr val="FF0000"/>
                </a:solidFill>
              </a:rPr>
              <a:t>propanol</a:t>
            </a:r>
            <a:r>
              <a:rPr lang="de-DE" dirty="0">
                <a:solidFill>
                  <a:srgbClr val="FF0000"/>
                </a:solidFill>
              </a:rPr>
              <a:t>, </a:t>
            </a:r>
            <a:r>
              <a:rPr lang="de-DE" dirty="0" err="1"/>
              <a:t>complete</a:t>
            </a:r>
            <a:r>
              <a:rPr lang="de-DE" dirty="0"/>
              <a:t> </a:t>
            </a:r>
            <a:r>
              <a:rPr lang="de-DE" dirty="0" err="1"/>
              <a:t>green</a:t>
            </a:r>
            <a:r>
              <a:rPr lang="de-DE" dirty="0"/>
              <a:t> </a:t>
            </a:r>
            <a:r>
              <a:rPr lang="de-DE" dirty="0" err="1"/>
              <a:t>routes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not </a:t>
            </a:r>
            <a:r>
              <a:rPr lang="de-DE" dirty="0" err="1"/>
              <a:t>yet</a:t>
            </a:r>
            <a:r>
              <a:rPr lang="de-DE" dirty="0"/>
              <a:t> </a:t>
            </a:r>
            <a:r>
              <a:rPr lang="de-DE" dirty="0" err="1"/>
              <a:t>better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BAU route…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6EDE6-0FF1-E449-D622-D9BD3986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21.09.2022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8120A-9864-C34D-A772-48DC77927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2E7EA-53B0-8905-81BA-8697D059E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13</a:t>
            </a:fld>
            <a:endParaRPr lang="de-CH" noProof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DD7574A-A27A-7F1C-9618-1C74C4CBB5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9334" y="1060704"/>
            <a:ext cx="10253330" cy="5351645"/>
          </a:xfrm>
        </p:spPr>
      </p:pic>
    </p:spTree>
    <p:extLst>
      <p:ext uri="{BB962C8B-B14F-4D97-AF65-F5344CB8AC3E}">
        <p14:creationId xmlns:p14="http://schemas.microsoft.com/office/powerpoint/2010/main" val="2231922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21785-61EB-68A9-6C32-4E6AA0021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Coal</a:t>
            </a:r>
            <a:r>
              <a:rPr lang="en-US" dirty="0"/>
              <a:t> is not a threat!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A52F032-B5AC-D8D4-22FE-6BCFD86F62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904" y="1160351"/>
            <a:ext cx="6566670" cy="467995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8A7CA-1E14-1816-1A81-E0DD6A479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21.09.2022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C797C-0F44-FDC0-B4BC-7C787931B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553AB-EAFE-339D-E319-AABC2EA67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14</a:t>
            </a:fld>
            <a:endParaRPr lang="de-CH" noProof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1A1681-C24E-0343-AF94-27C06ABE9E86}"/>
              </a:ext>
            </a:extLst>
          </p:cNvPr>
          <p:cNvSpPr txBox="1"/>
          <p:nvPr/>
        </p:nvSpPr>
        <p:spPr>
          <a:xfrm>
            <a:off x="8107681" y="1328928"/>
            <a:ext cx="387282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One could argue that coal gasification is a cheaper option.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However, EU has decided to phase out coal usage by 2031.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93% of the coal is used for the energy sector.</a:t>
            </a:r>
          </a:p>
        </p:txBody>
      </p:sp>
    </p:spTree>
    <p:extLst>
      <p:ext uri="{BB962C8B-B14F-4D97-AF65-F5344CB8AC3E}">
        <p14:creationId xmlns:p14="http://schemas.microsoft.com/office/powerpoint/2010/main" val="885219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TH Zürich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ETH_Vorlage_Praesentation" id="{4B926070-AF32-7F40-B7F4-387B612D789A}" vid="{D694835D-6A8F-E347-A983-608C17A72CEC}"/>
    </a:ext>
  </a:extLst>
</a:theme>
</file>

<file path=ppt/theme/theme2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ETH presentation template</Template>
  <TotalTime>0</TotalTime>
  <Words>323</Words>
  <Application>Microsoft Office PowerPoint</Application>
  <PresentationFormat>Widescreen</PresentationFormat>
  <Paragraphs>69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Symbol</vt:lpstr>
      <vt:lpstr>ETH Zürich</vt:lpstr>
      <vt:lpstr>Natural gas v alternative routes for production of chemicals in 2022</vt:lpstr>
      <vt:lpstr>Ammonia and methanol are the most energy intensive chemicals</vt:lpstr>
      <vt:lpstr>SMR and WGS for the production of conventional hydrogen</vt:lpstr>
      <vt:lpstr>Haber Bosch process for the production of ammonia</vt:lpstr>
      <vt:lpstr>Conventional process for methanol production</vt:lpstr>
      <vt:lpstr>Green alternative for methanol production</vt:lpstr>
      <vt:lpstr>Natural gas prices – current scenario in EUR/MWh</vt:lpstr>
      <vt:lpstr>Hydrogen from wind electrolysis is economically a better option in the current scenario…</vt:lpstr>
      <vt:lpstr>Hydrogen from wind electrolysis is economically a better option in the current scenario…</vt:lpstr>
      <vt:lpstr>Simlarly for methanol, green routes perform better economically…</vt:lpstr>
      <vt:lpstr>Simlarly for methanol, green routes perform better economically…</vt:lpstr>
      <vt:lpstr>For propanol, complete green routes are not yet better than the BAU route…</vt:lpstr>
      <vt:lpstr>For propanol, complete green routes are not yet better than the BAU route…</vt:lpstr>
      <vt:lpstr>Coal is not a threat!</vt:lpstr>
    </vt:vector>
  </TitlesOfParts>
  <Company>ETH Zuerich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Carbon Dioxide to Propanol – Weekly Update</dc:title>
  <dc:creator>Nabera  Abhinandan</dc:creator>
  <cp:lastModifiedBy>Nabera  Abhinandan</cp:lastModifiedBy>
  <cp:revision>336</cp:revision>
  <dcterms:created xsi:type="dcterms:W3CDTF">2022-07-06T08:30:06Z</dcterms:created>
  <dcterms:modified xsi:type="dcterms:W3CDTF">2022-09-22T09:53:11Z</dcterms:modified>
</cp:coreProperties>
</file>